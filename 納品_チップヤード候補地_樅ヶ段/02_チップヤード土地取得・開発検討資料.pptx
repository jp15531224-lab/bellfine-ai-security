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jpg"/><Relationship Id="rId11" Type="http://schemas.openxmlformats.org/officeDocument/2006/relationships/image" Target="../media/image35.jpg"/><Relationship Id="rId12" Type="http://schemas.openxmlformats.org/officeDocument/2006/relationships/image" Target="../media/image36.jpg"/><Relationship Id="rId13" Type="http://schemas.openxmlformats.org/officeDocument/2006/relationships/image" Target="../media/image37.jpg"/><Relationship Id="rId14" Type="http://schemas.openxmlformats.org/officeDocument/2006/relationships/image" Target="../media/image38.jpg"/><Relationship Id="rId15" Type="http://schemas.openxmlformats.org/officeDocument/2006/relationships/image" Target="../media/image39.jpg"/><Relationship Id="rId16" Type="http://schemas.openxmlformats.org/officeDocument/2006/relationships/image" Target="../media/image4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rcRect t="2862" b="286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0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560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008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00" b="1">
                <a:solidFill>
                  <a:srgbClr val="2E6B52"/>
                </a:solidFill>
                <a:latin typeface="Yu Gothic"/>
                <a:ea typeface="Yu Gothic"/>
              </a:rPr>
              <a:t>株式会社グリーン興産｜協議用資料（第1版）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512000"/>
            <a:ext cx="522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2400" b="1">
                <a:solidFill>
                  <a:srgbClr val="1F4D3A"/>
                </a:solidFill>
                <a:latin typeface="Yu Gothic"/>
                <a:ea typeface="Yu Gothic"/>
              </a:rPr>
              <a:t>木質バイオマス燃料</a:t>
            </a:r>
          </a:p>
          <a:p>
            <a:pPr algn="l">
              <a:lnSpc>
                <a:spcPct val="117450"/>
              </a:lnSpc>
            </a:pPr>
            <a:r>
              <a:rPr sz="2400" b="1">
                <a:solidFill>
                  <a:srgbClr val="1F4D3A"/>
                </a:solidFill>
                <a:latin typeface="Yu Gothic"/>
                <a:ea typeface="Yu Gothic"/>
              </a:rPr>
              <a:t>チップヤード建設候補地</a:t>
            </a:r>
          </a:p>
          <a:p>
            <a:pPr algn="l">
              <a:lnSpc>
                <a:spcPct val="117450"/>
              </a:lnSpc>
            </a:pPr>
            <a:r>
              <a:rPr sz="2400" b="1">
                <a:solidFill>
                  <a:srgbClr val="1F4D3A"/>
                </a:solidFill>
                <a:latin typeface="Yu Gothic"/>
                <a:ea typeface="Yu Gothic"/>
              </a:rPr>
              <a:t>土地取得・開発検討資料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3312000"/>
            <a:ext cx="1440000" cy="288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3528000"/>
            <a:ext cx="5040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9200"/>
              </a:lnSpc>
            </a:pPr>
            <a:r>
              <a:rPr sz="1050" b="0">
                <a:solidFill>
                  <a:srgbClr val="1D2421"/>
                </a:solidFill>
                <a:latin typeface="Yu Gothic"/>
                <a:ea typeface="Yu Gothic"/>
              </a:rPr>
              <a:t>候補地：兵庫県宍粟市一宮町東河内 字樅ヶ段 付近</a:t>
            </a:r>
          </a:p>
          <a:p>
            <a:pPr algn="l">
              <a:lnSpc>
                <a:spcPct val="139200"/>
              </a:lnSpc>
            </a:pPr>
            <a:r>
              <a:rPr sz="1050" b="0">
                <a:solidFill>
                  <a:srgbClr val="1D2421"/>
                </a:solidFill>
                <a:latin typeface="Yu Gothic"/>
                <a:ea typeface="Yu Gothic"/>
              </a:rPr>
              <a:t>基準座標：北緯35.0992884°／東経134.6401387°</a:t>
            </a:r>
          </a:p>
          <a:p>
            <a:pPr algn="l">
              <a:lnSpc>
                <a:spcPct val="139200"/>
              </a:lnSpc>
            </a:pPr>
            <a:r>
              <a:rPr sz="1050" b="0">
                <a:solidFill>
                  <a:srgbClr val="1D2421"/>
                </a:solidFill>
                <a:latin typeface="Yu Gothic"/>
                <a:ea typeface="Yu Gothic"/>
              </a:rPr>
              <a:t>作成日：2026年10月10日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400000"/>
            <a:ext cx="5040000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本資料の位置付け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・現場写真15枚・候補地図面・国土地理院の地図/航空写真を照合した「現況整理」と「概念的な施設配置案」です。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5F6B66"/>
                </a:solidFill>
                <a:latin typeface="Yu Gothic"/>
                <a:ea typeface="Yu Gothic"/>
              </a:rPr>
              <a:t>・撮影位置は推定、土地境界・面積は未確定、計画案はイメージです。数値・費用の確定値は含みません。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7056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FFFFFF"/>
                </a:solidFill>
                <a:latin typeface="Yu Gothic"/>
                <a:ea typeface="Yu Gothic"/>
              </a:rPr>
              <a:t>写真4：県道×脇道の交差部から敷地を望む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01 計画概要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候補地の概要と結論（サマリー）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2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000" y="1224000"/>
          <a:ext cx="4608000" cy="2462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80000"/>
                <a:gridCol w="3528000"/>
              </a:tblGrid>
              <a:tr h="273600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所在地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兵庫県宍粟市一宮町東河内（地理院地図注記「樅ヶ段」）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基準座標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35.0992884, 134.6401387（Googleマップ共有地点）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標高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約396〜403m（地理院標高API）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現況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棚田（石積みの段差）・刈払い済み。休耕地とみられる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接道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西：県道（路線番号未確認）／南：舗装の脇道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周辺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西に染河内川、対面に資材ヤード、南東に住宅・倉庫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図面記載面積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3,904㎡／2,995㎡／960㎡／1,315㎡ ほか</a:t>
                      </a:r>
                    </a:p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（読取値。何の面積かは未確認）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規制の兆候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東側に土砂災害警戒区域、西側に洪水浸水想定区域の表示（参考）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00000" y="1224000"/>
            <a:ext cx="4788000" cy="2808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4000" y="1332000"/>
            <a:ext cx="45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結論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4000" y="1584000"/>
            <a:ext cx="4500000" cy="23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30" b="1">
                <a:solidFill>
                  <a:srgbClr val="1D2421"/>
                </a:solidFill>
                <a:latin typeface="Yu Gothic"/>
                <a:ea typeface="Yu Gothic"/>
              </a:rPr>
              <a:t>チップヤード候補地として「条件付きで有望」。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・県道沿いに約75m以上の間口があり、下段は広く平坦で大型車の動線を取りやすい。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・一方、</a:t>
            </a:r>
            <a:r>
              <a:rPr sz="1030" b="1">
                <a:solidFill>
                  <a:srgbClr val="1D2421"/>
                </a:solidFill>
                <a:latin typeface="Yu Gothic"/>
                <a:ea typeface="Yu Gothic"/>
              </a:rPr>
              <a:t>農地（田）である可能性が高く</a:t>
            </a: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、農地転用・農振除外が最大の時間リスク。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・東側斜面は土砂災害警戒区域の表示があり、施設配置は西〜中央に寄せるべき。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・住宅まで約40mと近く、騒音・粉じんの説明と緩衝帯が必須。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0" y="4176000"/>
            <a:ext cx="4788000" cy="2808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4000" y="4284000"/>
            <a:ext cx="45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次にやること（2週間以内）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4000" y="4536000"/>
            <a:ext cx="4500000" cy="23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1. 登記簿・公図の取得（地目・所有者・面積の確定）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2. 市農業委員会：農振区分・転用可否の事前相談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3. 県土木事務所：県道乗入れ・警戒区域の事前相談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4. 所有者（図面記載の方々）への売却/賃貸の意向確認</a:t>
            </a:r>
          </a:p>
          <a:p>
            <a:pPr algn="l">
              <a:lnSpc>
                <a:spcPct val="130500"/>
              </a:lnSpc>
            </a:pPr>
            <a:r>
              <a:rPr sz="1030" b="0">
                <a:solidFill>
                  <a:srgbClr val="1D2421"/>
                </a:solidFill>
                <a:latin typeface="Yu Gothic"/>
                <a:ea typeface="Yu Gothic"/>
              </a:rPr>
              <a:t>5. 原料量と販売先の品質規格（含水率・粒度）を確認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4032000"/>
            <a:ext cx="4608000" cy="2952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9200"/>
              </a:lnSpc>
            </a:pPr>
            <a:r>
              <a:rPr sz="980" b="0">
                <a:solidFill>
                  <a:srgbClr val="5F6B66"/>
                </a:solidFill>
                <a:latin typeface="Yu Gothic"/>
                <a:ea typeface="Yu Gothic"/>
              </a:rPr>
              <a:t>検討の前提</a:t>
            </a:r>
          </a:p>
          <a:p>
            <a:pPr algn="l">
              <a:lnSpc>
                <a:spcPct val="139200"/>
              </a:lnSpc>
            </a:pPr>
            <a:r>
              <a:rPr sz="980" b="0">
                <a:solidFill>
                  <a:srgbClr val="5F6B66"/>
                </a:solidFill>
                <a:latin typeface="Yu Gothic"/>
                <a:ea typeface="Yu Gothic"/>
              </a:rPr>
              <a:t>・本資料は現地写真と図面からの「机上整理」です。現地測量・役所調査は未実施。</a:t>
            </a:r>
          </a:p>
          <a:p>
            <a:pPr algn="l">
              <a:lnSpc>
                <a:spcPct val="139200"/>
              </a:lnSpc>
            </a:pPr>
            <a:r>
              <a:rPr sz="980" b="0">
                <a:solidFill>
                  <a:srgbClr val="5F6B66"/>
                </a:solidFill>
                <a:latin typeface="Yu Gothic"/>
                <a:ea typeface="Yu Gothic"/>
              </a:rPr>
              <a:t>・写真にGPS・撮影日時が残っていないため、撮影位置はすべて景観照合による推定（信頼度B）。</a:t>
            </a:r>
          </a:p>
          <a:p>
            <a:pPr algn="l">
              <a:lnSpc>
                <a:spcPct val="139200"/>
              </a:lnSpc>
            </a:pPr>
            <a:r>
              <a:rPr sz="980" b="0">
                <a:solidFill>
                  <a:srgbClr val="5F6B66"/>
                </a:solidFill>
                <a:latin typeface="Yu Gothic"/>
                <a:ea typeface="Yu Gothic"/>
              </a:rPr>
              <a:t>・費用・収支は根拠資料がないため数値化していません（付録の収支検討シートで入力して試算可能）。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02 位置情報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候補地の位置（国土地理院 地図）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3 / 19</a:t>
            </a:r>
          </a:p>
        </p:txBody>
      </p:sp>
      <p:pic>
        <p:nvPicPr>
          <p:cNvPr id="8" name="Picture 7" descr="M3_地理院地図_位置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609864"/>
            <a:ext cx="5400000" cy="5024271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0000" y="1188000"/>
          <a:ext cx="4068000" cy="2394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152000"/>
                <a:gridCol w="2916000"/>
              </a:tblGrid>
              <a:tr h="342000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結果（出典）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Googleマップ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共有URLは 35.0992884,134.6401387 を指す（転送先URLで確認）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住所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宍粟市一宮町東河内（地理院 逆ジオコーダ、市区町村コード28227）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字名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地理院地図「樅ヶ段（もみがだん）」＝図面の字名と一致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河川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染河内川（県道の西側を並走）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道路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県道（地理院地図の都道府県道表示）。路線番号は未確認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地形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谷底の緩斜面。東西を山林に挟まれた谷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0000" y="3888000"/>
            <a:ext cx="4068000" cy="3060000"/>
          </a:xfrm>
          <a:prstGeom prst="rect">
            <a:avLst/>
          </a:prstGeom>
          <a:solidFill>
            <a:srgbClr val="E8F0EC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留意点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・基準座標は「候補地を示す地点」で、土地の中心や境界を示すものではありません。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・基準座標は田面の西寄り、県道から約10mの位置にあたります（航空写真照合）。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・県道の幅員、大型車の通行規制（重量・高さ・カーブ）は未確認です。</a:t>
            </a:r>
          </a:p>
          <a:p>
            <a:pPr algn="l">
              <a:lnSpc>
                <a:spcPct val="134850"/>
              </a:lnSpc>
            </a:pPr>
            <a:r>
              <a:rPr sz="900" b="0">
                <a:solidFill>
                  <a:srgbClr val="1D2421"/>
                </a:solidFill>
                <a:latin typeface="Yu Gothic"/>
                <a:ea typeface="Yu Gothic"/>
              </a:rPr>
              <a:t>・周辺の主要道路（国道等）までのルートと所要時間は、原木搬入元・チップ出荷先が決まった段階で確認が必要です。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03 航空写真・周辺地図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航空写真で見る候補地と周辺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4 / 19</a:t>
            </a:r>
          </a:p>
        </p:txBody>
      </p:sp>
      <p:pic>
        <p:nvPicPr>
          <p:cNvPr id="8" name="Picture 7" descr="M2_航空写真_広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2108000"/>
            <a:ext cx="5040000" cy="3920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pic>
        <p:nvPicPr>
          <p:cNvPr id="9" name="Picture 8" descr="aerial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0" y="1188000"/>
            <a:ext cx="4427999" cy="4427999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760000" y="5724000"/>
            <a:ext cx="4428000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・右上図：候補地周辺の拡大（出典：国土地理院 シームレス空中写真）。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・田面は県道（西）と脇道（南）に囲まれた角地から北へ広がる。下段の南北長は約74m（航空写真計測・概算）。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・東側住宅まで約40m、対面の資材ヤードまで約29m、染河内川まで約53m（基準座標から・概算）。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04 候補地図面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添付図面の読み取り（180°回転して北を上に表示）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5 / 19</a:t>
            </a:r>
          </a:p>
        </p:txBody>
      </p:sp>
      <p:pic>
        <p:nvPicPr>
          <p:cNvPr id="8" name="Picture 7" descr="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289999"/>
            <a:ext cx="4248000" cy="5664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68000" y="1188000"/>
          <a:ext cx="5220000" cy="2649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80000"/>
                <a:gridCol w="2088000"/>
                <a:gridCol w="2052000"/>
              </a:tblGrid>
              <a:tr h="3312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図面の色区分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含まれる地番（読取）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記載面積・備考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淡緑（北段）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2355-3〜5, 2356, 2356-1, 2357-3, 2359, 2360-1/2, 2361, 2361-1, 2362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3,904㎡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淡緑（中段）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2368-1〜3, 2369-1, 2369-4〜7, 2372-1, 2374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2,995㎡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濃緑（脇道南）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2373-1, 2373-2, 2378-3, 2378-5 ほか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960㎡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赤（南東）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2378-1, 2378-2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1,315㎡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黄土（東側斜面）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2332-34, 2363, 2364, 2366, 2366-1/2, 2367, 2367-1, 2375, 2376, 2377-2〜4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面積判読不可（「269㎡」の記載あり）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橙（県道西）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2370-3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「330㎡」とみられる記載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31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白（県道西）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2357-1/4, 2358-1/3, 2370-1/2/5/6, 2371-1/2 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色塗りなし（対象外か不明）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68000" y="4032000"/>
            <a:ext cx="5220000" cy="3024000"/>
          </a:xfrm>
          <a:prstGeom prst="rect">
            <a:avLst/>
          </a:prstGeom>
          <a:solidFill>
            <a:srgbClr val="FFF6E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読み取り上の注意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・原図は文字が逆さで、方位記号・縮尺・凡例がありません。北向きは航空写真との照合による推定です。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・色区分が「取得予定範囲」「所有者別」「地目別」のどれを示すかは不明です（作成者へ確認）。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・図面には所有者とみられる氏名（坂本 修、岡崎悦也、岡崎好幸、岡崎久和、小池一博、為木秀行、三浦八千代、藤原正雄、焼山澄敏、丸山圭司、兵庫県 ほか）が記載されていますが、</a:t>
            </a:r>
            <a:r>
              <a:rPr sz="860" b="1">
                <a:solidFill>
                  <a:srgbClr val="1D2421"/>
                </a:solidFill>
                <a:latin typeface="Yu Gothic"/>
                <a:ea typeface="Yu Gothic"/>
              </a:rPr>
              <a:t>引出線と地番の対応は読取りが不確実</a:t>
            </a: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です。必ず登記事項証明書で確認してください。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・淡緑＋濃緑＋赤の記載面積合計は9,174㎡（読取値）。黄土色を含めると</a:t>
            </a:r>
            <a:r>
              <a:rPr sz="860" b="1">
                <a:solidFill>
                  <a:srgbClr val="1D2421"/>
                </a:solidFill>
                <a:latin typeface="Yu Gothic"/>
                <a:ea typeface="Yu Gothic"/>
              </a:rPr>
              <a:t>1haを超える可能性</a:t>
            </a: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があり、開発許可・林地開発等の面積基準に影響します。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05 現場写真の撮影位置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撮影位置と撮影方向（推定）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6 / 19</a:t>
            </a:r>
          </a:p>
        </p:txBody>
      </p:sp>
      <p:pic>
        <p:nvPicPr>
          <p:cNvPr id="8" name="Picture 7" descr="M1_航空写真_撮影位置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188000"/>
            <a:ext cx="4320000" cy="4320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pic>
        <p:nvPicPr>
          <p:cNvPr id="9" name="Picture 8" descr="plan_markers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000" y="1428893"/>
            <a:ext cx="3312000" cy="3946212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24000" y="1188000"/>
          <a:ext cx="1764000" cy="4377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24000"/>
                <a:gridCol w="1440000"/>
              </a:tblGrid>
              <a:tr h="273600">
                <a:tc>
                  <a:txBody>
                    <a:bodyPr wrap="square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No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区分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周辺道路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周辺道路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3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進入路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4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敷地入口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敷地手前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6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敷地手前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7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敷地中央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8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敷地中央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9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敷地中央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10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敷地奥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11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敷地奥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12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敷地奥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13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既存建物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14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既存建物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15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2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隣接地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4000" y="5724000"/>
            <a:ext cx="7776000" cy="1296000"/>
          </a:xfrm>
          <a:prstGeom prst="rect">
            <a:avLst/>
          </a:prstGeom>
          <a:solidFill>
            <a:srgbClr val="E8F0EC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位置信頼度の基準　A：GPS情報で位置を確認／B：地形や建物から位置を推定／C：位置を特定できない</a:t>
            </a:r>
          </a:p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・今回の写真15枚はEXIFにGPS・撮影日時・方位が</a:t>
            </a:r>
            <a:r>
              <a:rPr sz="840" b="1">
                <a:solidFill>
                  <a:srgbClr val="1D2421"/>
                </a:solidFill>
                <a:latin typeface="Yu Gothic"/>
                <a:ea typeface="Yu Gothic"/>
              </a:rPr>
              <a:t>記録されていない</a:t>
            </a: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（共有時に削除された可能性）。全写真を</a:t>
            </a:r>
            <a:r>
              <a:rPr sz="840" b="1">
                <a:solidFill>
                  <a:srgbClr val="1D2421"/>
                </a:solidFill>
                <a:latin typeface="Yu Gothic"/>
                <a:ea typeface="Yu Gothic"/>
              </a:rPr>
              <a:t>B（推定）</a:t>
            </a: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とし、交差点・脇道・住宅・水路・対面ヤード等の目印から配置しました。</a:t>
            </a:r>
          </a:p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・推定精度：写真2〜8は高（交差点・脇道付近で目印が明確）、1・9・15は中、10〜14（上段）は低。誤差は数m〜十数mを想定。</a:t>
            </a:r>
          </a:p>
          <a:p>
            <a:pPr algn="l">
              <a:lnSpc>
                <a:spcPct val="13050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・iPhoneの元データ（AirDrop・「すべての写真データを含める」設定で共有）を頂ければ、GPSで再配置（信頼度A）できます。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06 現場全景パノラマ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現場全景（隣接する写真を自動合成）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7 / 19</a:t>
            </a:r>
          </a:p>
        </p:txBody>
      </p:sp>
      <p:pic>
        <p:nvPicPr>
          <p:cNvPr id="8" name="Picture 7" descr="PANO1_南西角から敷地全景.jpg"/>
          <p:cNvPicPr>
            <a:picLocks noChangeAspect="1"/>
          </p:cNvPicPr>
          <p:nvPr/>
        </p:nvPicPr>
        <p:blipFill>
          <a:blip r:embed="rId2"/>
          <a:srcRect t="6232" b="6232"/>
          <a:stretch>
            <a:fillRect/>
          </a:stretch>
        </p:blipFill>
        <p:spPr>
          <a:xfrm>
            <a:off x="504000" y="1188000"/>
            <a:ext cx="5040000" cy="34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000" y="4644000"/>
            <a:ext cx="50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南西角（県道×脇道交差部）から北東を見る（写真2・4・6を合成）</a:t>
            </a:r>
          </a:p>
        </p:txBody>
      </p:sp>
      <p:pic>
        <p:nvPicPr>
          <p:cNvPr id="10" name="Picture 9" descr="PANO2_脇道から北向き全景.jpg"/>
          <p:cNvPicPr>
            <a:picLocks noChangeAspect="1"/>
          </p:cNvPicPr>
          <p:nvPr/>
        </p:nvPicPr>
        <p:blipFill>
          <a:blip r:embed="rId3"/>
          <a:srcRect t="19615" b="19615"/>
          <a:stretch>
            <a:fillRect/>
          </a:stretch>
        </p:blipFill>
        <p:spPr>
          <a:xfrm>
            <a:off x="5760000" y="1188000"/>
            <a:ext cx="4428000" cy="34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000" y="4644000"/>
            <a:ext cx="442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脇道から北向き（写真5・8・7を合成）</a:t>
            </a:r>
          </a:p>
        </p:txBody>
      </p:sp>
      <p:pic>
        <p:nvPicPr>
          <p:cNvPr id="12" name="Picture 11" descr="PANO3_上段から南西俯瞰.jpg"/>
          <p:cNvPicPr>
            <a:picLocks noChangeAspect="1"/>
          </p:cNvPicPr>
          <p:nvPr/>
        </p:nvPicPr>
        <p:blipFill>
          <a:blip r:embed="rId4"/>
          <a:srcRect t="20399" b="20399"/>
          <a:stretch>
            <a:fillRect/>
          </a:stretch>
        </p:blipFill>
        <p:spPr>
          <a:xfrm>
            <a:off x="504000" y="4968000"/>
            <a:ext cx="7200000" cy="201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000" y="702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840" b="0">
                <a:solidFill>
                  <a:srgbClr val="1D2421"/>
                </a:solidFill>
                <a:latin typeface="Yu Gothic"/>
                <a:ea typeface="Yu Gothic"/>
              </a:rPr>
              <a:t>敷地上段から南西（県道・対面ヤード）方向を俯瞰（写真14・11・12を合成）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4968000"/>
            <a:ext cx="2268000" cy="2016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800" b="0">
                <a:solidFill>
                  <a:srgbClr val="5F6B66"/>
                </a:solidFill>
                <a:latin typeface="Yu Gothic"/>
                <a:ea typeface="Yu Gothic"/>
              </a:rPr>
              <a:t>合成について</a:t>
            </a:r>
          </a:p>
          <a:p>
            <a:pPr algn="l">
              <a:lnSpc>
                <a:spcPct val="126150"/>
              </a:lnSpc>
            </a:pPr>
            <a:r>
              <a:rPr sz="800" b="0">
                <a:solidFill>
                  <a:srgbClr val="5F6B66"/>
                </a:solidFill>
                <a:latin typeface="Yu Gothic"/>
                <a:ea typeface="Yu Gothic"/>
              </a:rPr>
              <a:t>・OpenCVで自動合成。建物・地形の改変はしていません。</a:t>
            </a:r>
          </a:p>
          <a:p>
            <a:pPr algn="l">
              <a:lnSpc>
                <a:spcPct val="126150"/>
              </a:lnSpc>
            </a:pPr>
            <a:r>
              <a:rPr sz="800" b="0">
                <a:solidFill>
                  <a:srgbClr val="5F6B66"/>
                </a:solidFill>
                <a:latin typeface="Yu Gothic"/>
                <a:ea typeface="Yu Gothic"/>
              </a:rPr>
              <a:t>・継ぎ目に歪みがあり得るため、寸法の判断には元写真を使用してください。</a:t>
            </a:r>
          </a:p>
          <a:p>
            <a:pPr algn="l">
              <a:lnSpc>
                <a:spcPct val="126150"/>
              </a:lnSpc>
            </a:pPr>
            <a:r>
              <a:rPr sz="800" b="0">
                <a:solidFill>
                  <a:srgbClr val="5F6B66"/>
                </a:solidFill>
                <a:latin typeface="Yu Gothic"/>
                <a:ea typeface="Yu Gothic"/>
              </a:rPr>
              <a:t>・合成できなかった組（写真15+9、13+14+11）は連続写真として納品フォルダに保存。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07 敷地への進入道路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県道・脇道からの進入条件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8 / 19</a:t>
            </a:r>
          </a:p>
        </p:txBody>
      </p:sp>
      <p:pic>
        <p:nvPicPr>
          <p:cNvPr id="8" name="Picture 7" descr="P02.jpg"/>
          <p:cNvPicPr>
            <a:picLocks noChangeAspect="1"/>
          </p:cNvPicPr>
          <p:nvPr/>
        </p:nvPicPr>
        <p:blipFill>
          <a:blip r:embed="rId2"/>
          <a:srcRect t="21731" b="21731"/>
          <a:stretch>
            <a:fillRect/>
          </a:stretch>
        </p:blipFill>
        <p:spPr>
          <a:xfrm>
            <a:off x="504000" y="1188000"/>
            <a:ext cx="2340000" cy="176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写真2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県道沿い南西角（標識付近）から敷地を見る（方向 約30°・推定）</a:t>
            </a:r>
          </a:p>
        </p:txBody>
      </p:sp>
      <p:pic>
        <p:nvPicPr>
          <p:cNvPr id="12" name="Picture 11" descr="P04.jpg"/>
          <p:cNvPicPr>
            <a:picLocks noChangeAspect="1"/>
          </p:cNvPicPr>
          <p:nvPr/>
        </p:nvPicPr>
        <p:blipFill>
          <a:blip r:embed="rId3"/>
          <a:srcRect l="255" r="255"/>
          <a:stretch>
            <a:fillRect/>
          </a:stretch>
        </p:blipFill>
        <p:spPr>
          <a:xfrm>
            <a:off x="2952000" y="1188000"/>
            <a:ext cx="2340000" cy="1764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024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4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写真4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県道×脇道の交差部から敷地全景（方向 約40°・推定）</a:t>
            </a:r>
          </a:p>
        </p:txBody>
      </p:sp>
      <p:pic>
        <p:nvPicPr>
          <p:cNvPr id="16" name="Picture 15" descr="P03.jpg"/>
          <p:cNvPicPr>
            <a:picLocks noChangeAspect="1"/>
          </p:cNvPicPr>
          <p:nvPr/>
        </p:nvPicPr>
        <p:blipFill>
          <a:blip r:embed="rId4"/>
          <a:srcRect l="255" r="255"/>
          <a:stretch>
            <a:fillRect/>
          </a:stretch>
        </p:blipFill>
        <p:spPr>
          <a:xfrm>
            <a:off x="5400000" y="1188000"/>
            <a:ext cx="2340000" cy="17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72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写真3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脇道から県道・対面ヤード方向を見る（方向 約290°・推定）</a:t>
            </a:r>
          </a:p>
        </p:txBody>
      </p:sp>
      <p:pic>
        <p:nvPicPr>
          <p:cNvPr id="20" name="Picture 19" descr="P01.jpg"/>
          <p:cNvPicPr>
            <a:picLocks noChangeAspect="1"/>
          </p:cNvPicPr>
          <p:nvPr/>
        </p:nvPicPr>
        <p:blipFill>
          <a:blip r:embed="rId5"/>
          <a:srcRect t="21731" b="21731"/>
          <a:stretch>
            <a:fillRect/>
          </a:stretch>
        </p:blipFill>
        <p:spPr>
          <a:xfrm>
            <a:off x="7848000" y="1188000"/>
            <a:ext cx="2340000" cy="176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920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県道（北側）から棚田と敷地奥を望む（方向 約125°・推定）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4000" y="3420000"/>
          <a:ext cx="9684000" cy="2289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620000"/>
                <a:gridCol w="4032000"/>
                <a:gridCol w="4032000"/>
              </a:tblGrid>
              <a:tr h="3816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写真から分かること（事実）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確認が必要なこと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県道（西側）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舗装・外側線あり、中央線なし。敷地との間に草地の路肩と側溝。上空に配電線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幅員・大型車の通行可否（重量/高さ）・乗入れ位置と隅切り・道路管理者協議（道路法24条）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脇道（南側）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舗装。県道より狭く、東の住宅へ通じる生活道路とみられる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幅員・所有（市道/私道）・大型車は不適の可能性 → 原則として県道から直接出入り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交差部・角地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標識柱が角にある。県道から見通しは比較的良い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出入口を交差部から離す必要性（安全・見通し）、標識柱の移設要否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段差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県道沿い北側は石積みで道路より高い区画あり（写真1）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乗入れ部の切土・擁壁・勾配の設計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大型車の旋回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設計車両の最小回転半径（道路構造令：普通自動車・セミトレーラ 12m）を前提に場内旋回スペースを確保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08 敷地内部の状況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田面・石積み・水路の現況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9 / 19</a:t>
            </a:r>
          </a:p>
        </p:txBody>
      </p:sp>
      <p:pic>
        <p:nvPicPr>
          <p:cNvPr id="8" name="Picture 7" descr="P07.jpg"/>
          <p:cNvPicPr>
            <a:picLocks noChangeAspect="1"/>
          </p:cNvPicPr>
          <p:nvPr/>
        </p:nvPicPr>
        <p:blipFill>
          <a:blip r:embed="rId2"/>
          <a:srcRect l="255" r="255"/>
          <a:stretch>
            <a:fillRect/>
          </a:stretch>
        </p:blipFill>
        <p:spPr>
          <a:xfrm>
            <a:off x="504000" y="1188000"/>
            <a:ext cx="2340000" cy="176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写真7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下段田面を北向きに見る（方向 約345°・推定）</a:t>
            </a:r>
          </a:p>
        </p:txBody>
      </p:sp>
      <p:pic>
        <p:nvPicPr>
          <p:cNvPr id="12" name="Picture 11" descr="P08.jpg"/>
          <p:cNvPicPr>
            <a:picLocks noChangeAspect="1"/>
          </p:cNvPicPr>
          <p:nvPr/>
        </p:nvPicPr>
        <p:blipFill>
          <a:blip r:embed="rId3"/>
          <a:srcRect l="255" r="255"/>
          <a:stretch>
            <a:fillRect/>
          </a:stretch>
        </p:blipFill>
        <p:spPr>
          <a:xfrm>
            <a:off x="2952000" y="1188000"/>
            <a:ext cx="2340000" cy="1764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024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4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写真8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脇道から北向きに敷地全景（方向 約330°・推定）</a:t>
            </a:r>
          </a:p>
        </p:txBody>
      </p:sp>
      <p:pic>
        <p:nvPicPr>
          <p:cNvPr id="16" name="Picture 15" descr="P06.jpg"/>
          <p:cNvPicPr>
            <a:picLocks noChangeAspect="1"/>
          </p:cNvPicPr>
          <p:nvPr/>
        </p:nvPicPr>
        <p:blipFill>
          <a:blip r:embed="rId4"/>
          <a:srcRect l="255" r="255"/>
          <a:stretch>
            <a:fillRect/>
          </a:stretch>
        </p:blipFill>
        <p:spPr>
          <a:xfrm>
            <a:off x="5400000" y="1188000"/>
            <a:ext cx="2340000" cy="17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72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写真6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石積みの段差（約1.5〜2m程度に見える）と東側住宅（方向 約50°・推定）</a:t>
            </a:r>
          </a:p>
        </p:txBody>
      </p:sp>
      <p:pic>
        <p:nvPicPr>
          <p:cNvPr id="20" name="Picture 19" descr="P10.jpg"/>
          <p:cNvPicPr>
            <a:picLocks noChangeAspect="1"/>
          </p:cNvPicPr>
          <p:nvPr/>
        </p:nvPicPr>
        <p:blipFill>
          <a:blip r:embed="rId5"/>
          <a:srcRect l="255" r="255"/>
          <a:stretch>
            <a:fillRect/>
          </a:stretch>
        </p:blipFill>
        <p:spPr>
          <a:xfrm>
            <a:off x="7848000" y="1188000"/>
            <a:ext cx="2340000" cy="176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920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写真10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水路沿いに西（県道方向）を見る（方向 約230°・推定）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000" y="3420000"/>
            <a:ext cx="4752000" cy="3528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3528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現況（写真から確認できる事実）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3780000"/>
            <a:ext cx="4464000" cy="3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・下段（県道沿い）は広くほぼ平坦な田面で、刈払い済み。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・東へ向かって石積みの段差が複数あり、棚田状（写真4・6・8）。段差は目視で人の背丈程度の箇所も（未計測）。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・上段北側にコンクリート水路があり</a:t>
            </a:r>
            <a:r>
              <a:rPr sz="1000" b="1">
                <a:solidFill>
                  <a:srgbClr val="1D2421"/>
                </a:solidFill>
                <a:latin typeface="Yu Gothic"/>
                <a:ea typeface="Yu Gothic"/>
              </a:rPr>
              <a:t>流水あり</a:t>
            </a: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（写真10）。図面の「北段と中段の境界」の二重線と一致するとみられる。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・上段には刈払い枝・潅木の切株、転石が残る（写真11〜13）。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・地理院標高：下段 約397.6〜400.6m、脇道東端 約403.0m。県道は北へ下る（南 約400m→北 約396m）。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36000" y="3420000"/>
            <a:ext cx="4752000" cy="35280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0000" y="3528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8A5A00"/>
                </a:solidFill>
                <a:latin typeface="Yu Gothic"/>
                <a:ea typeface="Yu Gothic"/>
              </a:rPr>
              <a:t>造成で検討すべきこと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0000" y="3780000"/>
            <a:ext cx="4464000" cy="3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・段々を一体の平場にするか、段を活かして「下段＝作業ヤード／上段＝保管」とするか（切盛土量・費用が大きく変わる）。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・石積みの扱い：撤去・再利用・保全（崩落防止）。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・水路の扱い：付替え・暗渠化・横断（管理者・水利権者との協議が前提）。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・地盤：田の表土は軟弱な場合が多く、大型車・重機の走行部は路盤改良が必要か地盤調査で確認。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・排水：雨水と木くず混じりの濁水の処理（沈砂池）と放流先。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09 周辺建物・周辺環境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隣接する建物・土地と生活環境への配慮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10 / 19</a:t>
            </a:r>
          </a:p>
        </p:txBody>
      </p:sp>
      <p:pic>
        <p:nvPicPr>
          <p:cNvPr id="8" name="Picture 7" descr="P14.jpg"/>
          <p:cNvPicPr>
            <a:picLocks noChangeAspect="1"/>
          </p:cNvPicPr>
          <p:nvPr/>
        </p:nvPicPr>
        <p:blipFill>
          <a:blip r:embed="rId2"/>
          <a:srcRect t="21731" b="21731"/>
          <a:stretch>
            <a:fillRect/>
          </a:stretch>
        </p:blipFill>
        <p:spPr>
          <a:xfrm>
            <a:off x="504000" y="1188000"/>
            <a:ext cx="2340000" cy="176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写真14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上段から南向き：住宅・倉庫・県道（方向 約185°・推定）</a:t>
            </a:r>
          </a:p>
        </p:txBody>
      </p:sp>
      <p:pic>
        <p:nvPicPr>
          <p:cNvPr id="12" name="Picture 11" descr="P15.jpg"/>
          <p:cNvPicPr>
            <a:picLocks noChangeAspect="1"/>
          </p:cNvPicPr>
          <p:nvPr/>
        </p:nvPicPr>
        <p:blipFill>
          <a:blip r:embed="rId3"/>
          <a:srcRect l="255" r="255"/>
          <a:stretch>
            <a:fillRect/>
          </a:stretch>
        </p:blipFill>
        <p:spPr>
          <a:xfrm>
            <a:off x="2952000" y="1188000"/>
            <a:ext cx="2340000" cy="1764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024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4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写真15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脇道東端から南西：脇道南側区画（重機・石材）（方向 約235°・推定）</a:t>
            </a:r>
          </a:p>
        </p:txBody>
      </p:sp>
      <p:pic>
        <p:nvPicPr>
          <p:cNvPr id="16" name="Picture 15" descr="P12.jpg"/>
          <p:cNvPicPr>
            <a:picLocks noChangeAspect="1"/>
          </p:cNvPicPr>
          <p:nvPr/>
        </p:nvPicPr>
        <p:blipFill>
          <a:blip r:embed="rId4"/>
          <a:srcRect l="255" r="255"/>
          <a:stretch>
            <a:fillRect/>
          </a:stretch>
        </p:blipFill>
        <p:spPr>
          <a:xfrm>
            <a:off x="5400000" y="1188000"/>
            <a:ext cx="2340000" cy="17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72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写真12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上段から西（県道・対面ヤード）を俯瞰（方向 約250°・推定）</a:t>
            </a:r>
          </a:p>
        </p:txBody>
      </p:sp>
      <p:pic>
        <p:nvPicPr>
          <p:cNvPr id="20" name="Picture 19" descr="P05.jpg"/>
          <p:cNvPicPr>
            <a:picLocks noChangeAspect="1"/>
          </p:cNvPicPr>
          <p:nvPr/>
        </p:nvPicPr>
        <p:blipFill>
          <a:blip r:embed="rId5"/>
          <a:srcRect t="21731" b="21731"/>
          <a:stretch>
            <a:fillRect/>
          </a:stretch>
        </p:blipFill>
        <p:spPr>
          <a:xfrm>
            <a:off x="7848000" y="1188000"/>
            <a:ext cx="2340000" cy="176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920000" y="1260000"/>
            <a:ext cx="324000" cy="234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0" y="126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000" y="2988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100"/>
              </a:lnSpc>
            </a:pPr>
            <a:r>
              <a:rPr sz="800" b="1">
                <a:solidFill>
                  <a:srgbClr val="1D2421"/>
                </a:solidFill>
                <a:latin typeface="Yu Gothic"/>
                <a:ea typeface="Yu Gothic"/>
              </a:rPr>
              <a:t>写真5</a:t>
            </a:r>
            <a:r>
              <a:rPr sz="800" b="0">
                <a:solidFill>
                  <a:srgbClr val="1D2421"/>
                </a:solidFill>
                <a:latin typeface="Yu Gothic"/>
                <a:ea typeface="Yu Gothic"/>
              </a:rPr>
              <a:t> 脇道沿い：石積み段差と投棄物（方向 約20°・推定）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4000" y="3420000"/>
          <a:ext cx="9684000" cy="2462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12000"/>
                <a:gridCol w="4320000"/>
                <a:gridCol w="3852000"/>
              </a:tblGrid>
              <a:tr h="4104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対象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現況（写真・航空写真）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協議・対策の論点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10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東側住宅（約40m）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脇道沿いに2階建住宅・瓦屋根の住宅。敷地の南東に近接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騒音・振動・粉じん・夜間作業・大型車通行の事前説明、緩衝帯・防音壁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脇道南側の区画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重機・石材置場・2階建倉庫（写真15）。図面の濃緑/赤区画に該当とみられる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利用中の権利関係・取得対象に含めるか（事務所・駐車場候補）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10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対面の資材ヤード（県道西）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重機・砕石・倉庫・コンテナ（写真3・12）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所有者・業種。出入りの交錯、共同利用・協業の可能性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北側隣接地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未管理の草地（写真12右奥）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将来拡張用地として取得・借地の余地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10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投棄物・焼却跡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脇道側溝付近にブロック片・缶・ビニール（写真5）。黒い残渣（写真9）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撤去責任（売主/買主）を契約前に確定、必要に応じ土壌確認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10 土地利用計画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ゾーニングの基本方針（概念）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11 / 19</a:t>
            </a:r>
          </a:p>
        </p:txBody>
      </p:sp>
      <p:pic>
        <p:nvPicPr>
          <p:cNvPr id="8" name="Picture 7" descr="M4_ハザード重ね図_参考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2088000"/>
            <a:ext cx="3960000" cy="3960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680000" y="1188000"/>
            <a:ext cx="5508000" cy="2448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4000" y="1296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基本方針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4000" y="1548000"/>
            <a:ext cx="5220000" cy="2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19" b="1">
                <a:solidFill>
                  <a:srgbClr val="1D2421"/>
                </a:solidFill>
                <a:latin typeface="Yu Gothic"/>
                <a:ea typeface="Yu Gothic"/>
              </a:rPr>
              <a:t>作業（破砕・積込）は西〜中央の下段に集約</a:t>
            </a: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：平坦・県道に近く・住宅と斜面から距離を取れる。</a:t>
            </a:r>
          </a:p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19" b="1">
                <a:solidFill>
                  <a:srgbClr val="1D2421"/>
                </a:solidFill>
                <a:latin typeface="Yu Gothic"/>
                <a:ea typeface="Yu Gothic"/>
              </a:rPr>
              <a:t>東側（斜面・住宅側）は保管・緩衝帯</a:t>
            </a: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：土砂災害警戒区域の表示がある範囲には建物・常駐施設を置かない。</a:t>
            </a:r>
          </a:p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919" b="1">
                <a:solidFill>
                  <a:srgbClr val="1D2421"/>
                </a:solidFill>
                <a:latin typeface="Yu Gothic"/>
                <a:ea typeface="Yu Gothic"/>
              </a:rPr>
              <a:t>出入口は県道に直結</a:t>
            </a: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し、脇道は大型車に使わない。</a:t>
            </a:r>
          </a:p>
          <a:p>
            <a:pPr algn="l">
              <a:lnSpc>
                <a:spcPct val="13050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・原木→破砕→チップ保管→積込が交差しない一方向の流れにする。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680000" y="3780000"/>
          <a:ext cx="5508000" cy="24192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440000"/>
                <a:gridCol w="4068000"/>
              </a:tblGrid>
              <a:tr h="345600"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工程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配置の考え方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原木搬入・保管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入口近く。はい積み高さ・離隔は消防協議で決定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破砕機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住宅から最も遠い位置。移動式か定置式かで電源・基礎が変わる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チップ保管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品質（含水率）維持のため屋根付きが望ましい。自然発火対策（温度管理）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積込・出荷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出口側。ホイールローダの作業範囲を確保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事務所・駐車場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出入口付近または脇道南側区画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排水・防火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低い北西側に沈砂池。防火水槽・消火器・防火帯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80000" y="6480000"/>
            <a:ext cx="550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80" b="0">
                <a:solidFill>
                  <a:srgbClr val="5F6B66"/>
                </a:solidFill>
                <a:latin typeface="Yu Gothic"/>
                <a:ea typeface="Yu Gothic"/>
              </a:rPr>
              <a:t>左図：国土地理院 重ねるハザードマップ（急傾斜地の崩壊・洪水浸水想定）を航空写真に重ねた参考表示。公式な区域・浸水深は兵庫県CGハザードマップ・宍粟市で確認が必要。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11 チップヤード施設配置案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施設配置イメージ（3案）— 計画イメージであり寸法・面積は未検討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12 / 19</a:t>
            </a:r>
          </a:p>
        </p:txBody>
      </p:sp>
      <p:pic>
        <p:nvPicPr>
          <p:cNvPr id="8" name="Picture 7" descr="M6A_施設配置案_A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188000"/>
            <a:ext cx="3132000" cy="4176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pic>
        <p:nvPicPr>
          <p:cNvPr id="9" name="Picture 8" descr="M6B_施設配置案_B案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000" y="1188000"/>
            <a:ext cx="3132000" cy="4176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pic>
        <p:nvPicPr>
          <p:cNvPr id="10" name="Picture 9" descr="M6C_施設配置案_C案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00" y="1188000"/>
            <a:ext cx="3132000" cy="4176000"/>
          </a:xfrm>
          <a:prstGeom prst="rect">
            <a:avLst/>
          </a:prstGeom>
          <a:ln w="9525">
            <a:solidFill>
              <a:srgbClr val="D9DFDC"/>
            </a:solidFill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000" y="5472000"/>
          <a:ext cx="9684000" cy="1944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80000"/>
                <a:gridCol w="4320000"/>
                <a:gridCol w="4284000"/>
              </a:tblGrid>
              <a:tr h="486000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案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メリット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デメリット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A案</a:t>
                      </a:r>
                    </a:p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一方通行・南北動線型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入口と出口を分け、大型車が場内で切り返さずに通過できる。原木→破砕→チップの流れが一直線。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水路の横断（暗渠化等）が必要。北段の造成量が大きい。県道への乗入れが2か所。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B案</a:t>
                      </a:r>
                    </a:p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中段集約・単一出入口＋場内旋回型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水路を横断せず中段だけで完結。乗入れ1か所で道路協議が簡素。北段を将来拡張用地として温存。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場内に旋回スペース（直径約25m目安）が必要で保管面積が減る。出入りの交錯に誘導が必要。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C案</a:t>
                      </a:r>
                    </a:p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段階整備型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第1期は中段のみ・移動式チッパー・屋外保管で初期投資と許認可を最小化。需要・原料量を見て第2期に拡張。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第1期はチップ品質（含水率）管理が難しく、屋根付き保管庫を早期に追加する必要が出る可能性。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11 チップヤード施設配置案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配置案の比較と推奨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13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000" y="1188000"/>
          <a:ext cx="6480000" cy="3672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84000"/>
                <a:gridCol w="1620000"/>
                <a:gridCol w="1620000"/>
                <a:gridCol w="1656000"/>
              </a:tblGrid>
              <a:tr h="367200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評価項目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A案 一方通行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B案 中段集約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C案 段階整備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大型車の動線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切返し不要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旋回スペース要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第1期はB案同等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必要な土地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北段＋中段（広い）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中段＋脇道南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第1期は中段のみ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造成・水路協議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× 水路横断あり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水路に触れない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最小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県道乗入れ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2か所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1か所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1か所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住宅への影響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○（第1期は規模小）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初期投資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大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小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拡張性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―（最大形）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○ 北段を温存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◎ 段階的に拡張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許認可の難度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高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中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低〜中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総合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規模優先なら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バランス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推奨（小さく始める）</a:t>
                      </a:r>
                    </a:p>
                  </a:txBody>
                  <a:tcPr marL="50400" marR="50400" marT="21600" marB="21600" anchor="ctr">
                    <a:solidFill>
                      <a:srgbClr val="FFF6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200000" y="1188000"/>
            <a:ext cx="2988000" cy="5760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4000" y="1296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推奨する進め方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4000" y="1548000"/>
            <a:ext cx="2700000" cy="53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860" b="1">
                <a:solidFill>
                  <a:srgbClr val="1D2421"/>
                </a:solidFill>
                <a:latin typeface="Yu Gothic"/>
                <a:ea typeface="Yu Gothic"/>
              </a:rPr>
              <a:t>C案（段階整備）で開始し、B案の形に育てる。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 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理由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・第1期は中段（約3,000㎡規模）と移動式チッパーで始められ、初期投資と許認可の範囲を最小化できる。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・原料量・販売先が固まった段階で北段を取得/造成すれば、空振りのリスクを抑えられる。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・水路に触れないため、水利関係の協議が後回しにできる。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 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全社リソースへの影響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・造成・重機作業は自社の建設・解体部門で内製できる可能性（外注費の圧縮）。</a:t>
            </a:r>
          </a:p>
          <a:p>
            <a:pPr algn="l">
              <a:lnSpc>
                <a:spcPct val="130500"/>
              </a:lnSpc>
            </a:pP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・原料に自社の造園・解体で出る木くずを使う場合は</a:t>
            </a:r>
            <a:r>
              <a:rPr sz="860" b="1">
                <a:solidFill>
                  <a:srgbClr val="1D2421"/>
                </a:solidFill>
                <a:latin typeface="Yu Gothic"/>
                <a:ea typeface="Yu Gothic"/>
              </a:rPr>
              <a:t>産業廃棄物の扱い</a:t>
            </a:r>
            <a:r>
              <a:rPr sz="860" b="0">
                <a:solidFill>
                  <a:srgbClr val="1D2421"/>
                </a:solidFill>
                <a:latin typeface="Yu Gothic"/>
                <a:ea typeface="Yu Gothic"/>
              </a:rPr>
              <a:t>になり許可が必要。林地残材・原木に限定すれば回避しやすい。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12 造成・インフラ検討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造成・インフラの検討項目（現時点で分かる事実と確認事項）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14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000" y="1188000"/>
          <a:ext cx="9684000" cy="5544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24000"/>
                <a:gridCol w="3960000"/>
                <a:gridCol w="4500000"/>
              </a:tblGrid>
              <a:tr h="5544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分かっていること（根拠）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確認・設計が必要なこと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高低差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下段 約397.6〜400.6m、脇道東端 約403.0m、県道 約396〜400m（地理院標高API・DEM）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現況測量（平面・縦横断）で切盛土量を算定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造成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棚田の石積み段差が複数。刈払い済み（写真）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一体平場か段利用か。石積みの撤去/保全。表土処理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地盤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元水田とみられる（現況から推定）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地盤調査（大型車・重機・保管荷重への支持力）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排水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敷地北側に流水のある水路。県道側に側溝（写真10・2）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放流先・放流量の協議、沈砂池・油水分離の要否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県道沿いに配電線・変圧器付き電柱（写真3・4）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三相動力の引込可否と容量、高圧受電の要否（定置式チッパーの場合）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上空電線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敷地上空を電線が横断（写真4・パノラマ1）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高さ測定、ダンプ荷台・重機アームとの離隔、移設費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給水・下水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脇道にマンホールあり（写真9）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上水・集落排水の有無、事務所の給排水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災害区域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東側に土砂災害警戒区域、隣接して特別警戒区域、西側に洪水浸水想定区域の表示（重ねるハザードマップ）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公式図で範囲確定。施設・事務所の配置制限、浸水時の対策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544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防火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チップ・木くずは指定可燃物に該当し得る → 消防本部と貯蔵量・離隔・消火設備を協議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13 土地取得に必要な確認事項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土地取得の確認事項（確認済み／要確認）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15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000" y="1188000"/>
          <a:ext cx="9684000" cy="54432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80000"/>
                <a:gridCol w="4140000"/>
                <a:gridCol w="1080000"/>
                <a:gridCol w="3384000"/>
              </a:tblGrid>
              <a:tr h="4536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現時点の情報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状態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確認先・方法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取得対象地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図面の色塗り区画（淡緑・濃緑・赤・黄土）とみられる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推定</a:t>
                      </a:r>
                    </a:p>
                  </a:txBody>
                  <a:tcPr marL="50400" marR="50400" marT="21600" marB="2160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図面作成者に範囲の意図を確認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所有者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図面に氏名の記載あり（地番との対応は不確実）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</a:t>
                      </a:r>
                    </a:p>
                  </a:txBody>
                  <a:tcPr marL="50400" marR="50400" marT="21600" marB="2160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登記事項証明書（法務局）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地番・面積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図面読取：記載面積合計 9,174㎡＋黄土色区画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読取のみ</a:t>
                      </a:r>
                    </a:p>
                  </a:txBody>
                  <a:tcPr marL="50400" marR="50400" marT="21600" marB="2160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登記簿・公図・地積測量図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地目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棚田の現況から「田」の可能性が高い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登記簿＋農業委員会（現況地目・農地台帳）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境界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未確定</a:t>
                      </a:r>
                    </a:p>
                  </a:txBody>
                  <a:tcPr marL="50400" marR="50400" marT="21600" marB="21600" anchor="ctr"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土地家屋調査士による境界確認・立会い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利用規制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農振・都市計画・森林計画の区分は不明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宍粟市（農林・都市計画）、兵庫県（森林）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接道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県道・脇道に接する（写真・地図）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確認済み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幅員・道路種別・乗入れ可否は県土木事務所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災害区域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警戒区域・浸水想定の表示あり（参考）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要確認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兵庫県CGハザードマップ・市防災担当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周辺住宅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東側約40m（概算）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確認済み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地元自治会への説明方法を相談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開発許可等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合計面積が1ha前後のため基準に注意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市・県の開発許可担当、林地開発（森林法）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536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その他法令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騒音・振動・消防・廃棄物・埋蔵文化財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各担当窓口（次ページ以降・Excel一覧）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14 課題と協議事項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関係者別の協議事項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16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000" y="1188000"/>
          <a:ext cx="9684000" cy="54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68000"/>
                <a:gridCol w="5040000"/>
                <a:gridCol w="3276000"/>
              </a:tblGrid>
              <a:tr h="5400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相手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協議事項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会議で決めたいこと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土地所有者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売却/賃貸の意向、価格の考え方、許可取得を条件とする契約（停止条件付き）、境界立会い、投棄物・残置物の扱い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意向の有無、次回までに登記簿・測量の同意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宍粟市（農業委員会・農林）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農振区分、農地転用（5条）の見込み・必要書類・受付時期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事前相談の日程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宍粟市（都市計画・環境）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開発許可の要否、騒音・振動規制の地域指定、景観等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該当法令の一覧化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兵庫県（土木事務所）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県道乗入れ（道路法24条）、警戒区域の範囲、河川・砂防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乗入れ位置の事前協議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兵庫県（森林・林務）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林地開発許可・伐採届の要否、木材利用に関する支援制度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支援制度の有無の確認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消防本部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指定可燃物（木くず・チップ）の貯蔵・取扱い、防火設備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保管量の上限と必要設備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水利・地元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水路の管理者・水利組合、自治会への事業説明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説明会の要否・時期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電力会社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動力引込の可否・容量・工期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引込の概算と期間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販売先・原料元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チップ品質規格、年間需要、原料供給量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事業規模の前提値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15 今後の進め方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進め方と判断ポイント（Go/No-Go）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調査の着手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〜2週間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登記簿・公図取得／市・県・消防への事前相談／所有者へ打診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成立性の確認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〜1か月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地目・農振・区域の確定／原料量と販売先の確認／測量見積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計画の具体化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〜3か月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現況測量・概略造成設計／概算見積／収支計画／補助制度調査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Go / No-Go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撤退条件に該当しないか確認し、取得方式（購入/借地）を決定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許認可・契約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以降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農地転用等の申請／停止条件付き契約／近隣説明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04000" y="1224000"/>
            <a:ext cx="1548000" cy="57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4000" y="1278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000" y="151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造成・建設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000" y="1872000"/>
            <a:ext cx="15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150"/>
              </a:lnSpc>
            </a:pPr>
            <a:r>
              <a:rPr sz="850" b="1">
                <a:solidFill>
                  <a:srgbClr val="2E6B52"/>
                </a:solidFill>
                <a:latin typeface="Yu Gothic"/>
                <a:ea typeface="Yu Gothic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0000" y="2088000"/>
            <a:ext cx="1476000" cy="1224000"/>
          </a:xfrm>
          <a:prstGeom prst="rect">
            <a:avLst/>
          </a:prstGeom>
          <a:solidFill>
            <a:srgbClr val="F4F7F5"/>
          </a:solidFill>
        </p:spPr>
        <p:txBody>
          <a:bodyPr wrap="square" lIns="90000" rIns="90000" tIns="54000" bIns="5400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19" b="0">
                <a:solidFill>
                  <a:srgbClr val="1D2421"/>
                </a:solidFill>
                <a:latin typeface="Yu Gothic"/>
                <a:ea typeface="Yu Gothic"/>
              </a:rPr>
              <a:t>第1期（中段）造成・設備導入・稼働 → 第2期へ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4000" y="3528000"/>
            <a:ext cx="4752000" cy="3456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000" y="3636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B3261E"/>
                </a:solidFill>
                <a:latin typeface="Yu Gothic"/>
                <a:ea typeface="Yu Gothic"/>
              </a:rPr>
              <a:t>撤退条件（例：社内で合意しておく）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000" y="3888000"/>
            <a:ext cx="4464000" cy="30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・農振除外・農地転用の見込みが立たない。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・土砂災害特別警戒区域や浸水想定が作業エリアの主要部に及ぶ。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・主要区画の所有者の同意が得られない／価格が上限を超える。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・県道への大型車乗入れが認められない。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・概算造成費・設備費で回収年数が社内基準を超える。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・近隣の理解が得られず、操業時間等の制約が事業性を損なう。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36000" y="3528000"/>
            <a:ext cx="4752000" cy="3456000"/>
          </a:xfrm>
          <a:prstGeom prst="roundRect">
            <a:avLst>
              <a:gd name="adj" fmla="val 8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80000" y="36360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050" b="1">
                <a:solidFill>
                  <a:srgbClr val="1F4D3A"/>
                </a:solidFill>
                <a:latin typeface="Yu Gothic"/>
                <a:ea typeface="Yu Gothic"/>
              </a:rPr>
              <a:t>小さく始める一歩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0000" y="3888000"/>
            <a:ext cx="4464000" cy="30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</a:t>
            </a:r>
            <a:r>
              <a:rPr sz="1000" b="1">
                <a:solidFill>
                  <a:srgbClr val="1D2421"/>
                </a:solidFill>
                <a:latin typeface="Yu Gothic"/>
                <a:ea typeface="Yu Gothic"/>
              </a:rPr>
              <a:t>まず登記簿と公図だけ取る</a:t>
            </a: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（数千円・数日）。地目と所有者が分かれば、成立性の大半を判断できる。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・所有者へは「買う」前提でなく「許可が下りたら」の条件付きで意向確認。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・第1期は</a:t>
            </a:r>
            <a:r>
              <a:rPr sz="1000" b="1">
                <a:solidFill>
                  <a:srgbClr val="1D2421"/>
                </a:solidFill>
                <a:latin typeface="Yu Gothic"/>
                <a:ea typeface="Yu Gothic"/>
              </a:rPr>
              <a:t>借地＋移動式チッパー＋屋外保管</a:t>
            </a: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で試験操業し、販売実績を作ってから投資判断。</a:t>
            </a:r>
          </a:p>
          <a:p>
            <a:pPr algn="l">
              <a:lnSpc>
                <a:spcPct val="130500"/>
              </a:lnSpc>
            </a:pPr>
            <a:r>
              <a:rPr sz="1000" b="0">
                <a:solidFill>
                  <a:srgbClr val="1D2421"/>
                </a:solidFill>
                <a:latin typeface="Yu Gothic"/>
                <a:ea typeface="Yu Gothic"/>
              </a:rPr>
              <a:t>・社内では、林業（原料）・建設（造成）・発電所メンテ（販売先との関係）を横断する担当者を1名決める。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現場写真一覧（撮影位置は推定・信頼度B）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18 / 19</a:t>
            </a:r>
          </a:p>
        </p:txBody>
      </p:sp>
      <p:pic>
        <p:nvPicPr>
          <p:cNvPr id="8" name="Picture 7" descr="P01.jpg"/>
          <p:cNvPicPr>
            <a:picLocks noChangeAspect="1"/>
          </p:cNvPicPr>
          <p:nvPr/>
        </p:nvPicPr>
        <p:blipFill>
          <a:blip r:embed="rId2"/>
          <a:srcRect t="24038" b="24038"/>
          <a:stretch>
            <a:fillRect/>
          </a:stretch>
        </p:blipFill>
        <p:spPr>
          <a:xfrm>
            <a:off x="504000" y="1188000"/>
            <a:ext cx="1872000" cy="129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8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県道（北側）から棚田と敷地奥を望む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① 周辺道路｜方向 約125°｜精度中</a:t>
            </a:r>
          </a:p>
        </p:txBody>
      </p:sp>
      <p:pic>
        <p:nvPicPr>
          <p:cNvPr id="12" name="Picture 11" descr="P02.jpg"/>
          <p:cNvPicPr>
            <a:picLocks noChangeAspect="1"/>
          </p:cNvPicPr>
          <p:nvPr/>
        </p:nvPicPr>
        <p:blipFill>
          <a:blip r:embed="rId3"/>
          <a:srcRect t="24038" b="24038"/>
          <a:stretch>
            <a:fillRect/>
          </a:stretch>
        </p:blipFill>
        <p:spPr>
          <a:xfrm>
            <a:off x="2448000" y="1188000"/>
            <a:ext cx="1872000" cy="1296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502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2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8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県道沿い南西角（標識付近）から敷地を見る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① 周辺道路｜方向 約30°｜精度高</a:t>
            </a:r>
          </a:p>
        </p:txBody>
      </p:sp>
      <p:pic>
        <p:nvPicPr>
          <p:cNvPr id="16" name="Picture 15" descr="P03.jpg"/>
          <p:cNvPicPr>
            <a:picLocks noChangeAspect="1"/>
          </p:cNvPicPr>
          <p:nvPr/>
        </p:nvPicPr>
        <p:blipFill>
          <a:blip r:embed="rId4"/>
          <a:srcRect t="3846" b="3846"/>
          <a:stretch>
            <a:fillRect/>
          </a:stretch>
        </p:blipFill>
        <p:spPr>
          <a:xfrm>
            <a:off x="4392000" y="1188000"/>
            <a:ext cx="1872000" cy="1296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446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6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2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脇道から県道・対面ヤード方向を見る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② 進入路｜方向 約290°｜精度高</a:t>
            </a:r>
          </a:p>
        </p:txBody>
      </p:sp>
      <p:pic>
        <p:nvPicPr>
          <p:cNvPr id="20" name="Picture 19" descr="P04.jpg"/>
          <p:cNvPicPr>
            <a:picLocks noChangeAspect="1"/>
          </p:cNvPicPr>
          <p:nvPr/>
        </p:nvPicPr>
        <p:blipFill>
          <a:blip r:embed="rId5"/>
          <a:srcRect t="3846" b="3846"/>
          <a:stretch>
            <a:fillRect/>
          </a:stretch>
        </p:blipFill>
        <p:spPr>
          <a:xfrm>
            <a:off x="6336000" y="1188000"/>
            <a:ext cx="1872000" cy="1296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90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0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県道×脇道の交差部から敷地全景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③ 敷地入口｜方向 約40°｜精度高</a:t>
            </a:r>
          </a:p>
        </p:txBody>
      </p:sp>
      <p:pic>
        <p:nvPicPr>
          <p:cNvPr id="24" name="Picture 23" descr="P05.jpg"/>
          <p:cNvPicPr>
            <a:picLocks noChangeAspect="1"/>
          </p:cNvPicPr>
          <p:nvPr/>
        </p:nvPicPr>
        <p:blipFill>
          <a:blip r:embed="rId6"/>
          <a:srcRect t="24038" b="24038"/>
          <a:stretch>
            <a:fillRect/>
          </a:stretch>
        </p:blipFill>
        <p:spPr>
          <a:xfrm>
            <a:off x="8280000" y="1188000"/>
            <a:ext cx="1872000" cy="1296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334000" y="124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4000" y="124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252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脇道沿い：石積み段差と投棄物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④ 敷地手前｜方向 約20°｜精度高</a:t>
            </a:r>
          </a:p>
        </p:txBody>
      </p:sp>
      <p:pic>
        <p:nvPicPr>
          <p:cNvPr id="28" name="Picture 27" descr="P06.jpg"/>
          <p:cNvPicPr>
            <a:picLocks noChangeAspect="1"/>
          </p:cNvPicPr>
          <p:nvPr/>
        </p:nvPicPr>
        <p:blipFill>
          <a:blip r:embed="rId7"/>
          <a:srcRect t="3846" b="3846"/>
          <a:stretch>
            <a:fillRect/>
          </a:stretch>
        </p:blipFill>
        <p:spPr>
          <a:xfrm>
            <a:off x="504000" y="3168000"/>
            <a:ext cx="1872000" cy="1296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58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石積みの段差（約1.5〜2m程度に見える）と東側住宅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④ 敷地手前｜方向 約50°｜精度高</a:t>
            </a:r>
          </a:p>
        </p:txBody>
      </p:sp>
      <p:pic>
        <p:nvPicPr>
          <p:cNvPr id="32" name="Picture 31" descr="P07.jpg"/>
          <p:cNvPicPr>
            <a:picLocks noChangeAspect="1"/>
          </p:cNvPicPr>
          <p:nvPr/>
        </p:nvPicPr>
        <p:blipFill>
          <a:blip r:embed="rId8"/>
          <a:srcRect t="3846" b="3846"/>
          <a:stretch>
            <a:fillRect/>
          </a:stretch>
        </p:blipFill>
        <p:spPr>
          <a:xfrm>
            <a:off x="2448000" y="3168000"/>
            <a:ext cx="1872000" cy="1296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502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02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8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下段田面を北向きに見る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⑤ 敷地中央｜方向 約345°｜精度高</a:t>
            </a:r>
          </a:p>
        </p:txBody>
      </p:sp>
      <p:pic>
        <p:nvPicPr>
          <p:cNvPr id="36" name="Picture 35" descr="P08.jpg"/>
          <p:cNvPicPr>
            <a:picLocks noChangeAspect="1"/>
          </p:cNvPicPr>
          <p:nvPr/>
        </p:nvPicPr>
        <p:blipFill>
          <a:blip r:embed="rId9"/>
          <a:srcRect t="3846" b="3846"/>
          <a:stretch>
            <a:fillRect/>
          </a:stretch>
        </p:blipFill>
        <p:spPr>
          <a:xfrm>
            <a:off x="4392000" y="3168000"/>
            <a:ext cx="1872000" cy="12960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46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46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2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脇道から北向きに敷地全景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⑤ 敷地中央｜方向 約330°｜精度高</a:t>
            </a:r>
          </a:p>
        </p:txBody>
      </p:sp>
      <p:pic>
        <p:nvPicPr>
          <p:cNvPr id="40" name="Picture 39" descr="P09.jpg"/>
          <p:cNvPicPr>
            <a:picLocks noChangeAspect="1"/>
          </p:cNvPicPr>
          <p:nvPr/>
        </p:nvPicPr>
        <p:blipFill>
          <a:blip r:embed="rId10"/>
          <a:srcRect t="3846" b="3846"/>
          <a:stretch>
            <a:fillRect/>
          </a:stretch>
        </p:blipFill>
        <p:spPr>
          <a:xfrm>
            <a:off x="6336000" y="3168000"/>
            <a:ext cx="1872000" cy="129600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390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0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脇道東端から北西に敷地全景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⑤ 敷地中央｜方向 約295°｜精度中</a:t>
            </a:r>
          </a:p>
        </p:txBody>
      </p:sp>
      <p:pic>
        <p:nvPicPr>
          <p:cNvPr id="44" name="Picture 43" descr="P10.jpg"/>
          <p:cNvPicPr>
            <a:picLocks noChangeAspect="1"/>
          </p:cNvPicPr>
          <p:nvPr/>
        </p:nvPicPr>
        <p:blipFill>
          <a:blip r:embed="rId11"/>
          <a:srcRect t="3846" b="3846"/>
          <a:stretch>
            <a:fillRect/>
          </a:stretch>
        </p:blipFill>
        <p:spPr>
          <a:xfrm>
            <a:off x="8280000" y="3168000"/>
            <a:ext cx="1872000" cy="12960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334000" y="322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4000" y="322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0000" y="450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水路沿いに西（県道方向）を見る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⑥ 敷地奥｜方向 約230°｜精度低</a:t>
            </a:r>
          </a:p>
        </p:txBody>
      </p:sp>
      <p:pic>
        <p:nvPicPr>
          <p:cNvPr id="48" name="Picture 47" descr="P11.jpg"/>
          <p:cNvPicPr>
            <a:picLocks noChangeAspect="1"/>
          </p:cNvPicPr>
          <p:nvPr/>
        </p:nvPicPr>
        <p:blipFill>
          <a:blip r:embed="rId12"/>
          <a:srcRect t="3846" b="3846"/>
          <a:stretch>
            <a:fillRect/>
          </a:stretch>
        </p:blipFill>
        <p:spPr>
          <a:xfrm>
            <a:off x="504000" y="5148000"/>
            <a:ext cx="1872000" cy="129600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558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8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上段から南西を俯瞰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⑥ 敷地奥｜方向 約220°｜精度低</a:t>
            </a:r>
          </a:p>
        </p:txBody>
      </p:sp>
      <p:pic>
        <p:nvPicPr>
          <p:cNvPr id="52" name="Picture 51" descr="P12.jpg"/>
          <p:cNvPicPr>
            <a:picLocks noChangeAspect="1"/>
          </p:cNvPicPr>
          <p:nvPr/>
        </p:nvPicPr>
        <p:blipFill>
          <a:blip r:embed="rId13"/>
          <a:srcRect t="3846" b="3846"/>
          <a:stretch>
            <a:fillRect/>
          </a:stretch>
        </p:blipFill>
        <p:spPr>
          <a:xfrm>
            <a:off x="2448000" y="5148000"/>
            <a:ext cx="1872000" cy="12960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502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02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48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上段から西（県道・対面ヤード）を俯瞰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⑥ 敷地奥｜方向 約250°｜精度低</a:t>
            </a:r>
          </a:p>
        </p:txBody>
      </p:sp>
      <p:pic>
        <p:nvPicPr>
          <p:cNvPr id="56" name="Picture 55" descr="P13.jpg"/>
          <p:cNvPicPr>
            <a:picLocks noChangeAspect="1"/>
          </p:cNvPicPr>
          <p:nvPr/>
        </p:nvPicPr>
        <p:blipFill>
          <a:blip r:embed="rId14"/>
          <a:srcRect t="24038" b="24038"/>
          <a:stretch>
            <a:fillRect/>
          </a:stretch>
        </p:blipFill>
        <p:spPr>
          <a:xfrm>
            <a:off x="4392000" y="5148000"/>
            <a:ext cx="1872000" cy="129600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4446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46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92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上段（東端）から南向き：住宅・重機方向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⑦ 既存建物｜方向 約175°｜精度低</a:t>
            </a:r>
          </a:p>
        </p:txBody>
      </p:sp>
      <p:pic>
        <p:nvPicPr>
          <p:cNvPr id="60" name="Picture 59" descr="P14.jpg"/>
          <p:cNvPicPr>
            <a:picLocks noChangeAspect="1"/>
          </p:cNvPicPr>
          <p:nvPr/>
        </p:nvPicPr>
        <p:blipFill>
          <a:blip r:embed="rId15"/>
          <a:srcRect t="24038" b="24038"/>
          <a:stretch>
            <a:fillRect/>
          </a:stretch>
        </p:blipFill>
        <p:spPr>
          <a:xfrm>
            <a:off x="6336000" y="5148000"/>
            <a:ext cx="1872000" cy="129600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390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0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上段から南向き：住宅・倉庫・県道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⑦ 既存建物｜方向 約185°｜精度低</a:t>
            </a:r>
          </a:p>
        </p:txBody>
      </p:sp>
      <p:pic>
        <p:nvPicPr>
          <p:cNvPr id="64" name="Picture 63" descr="P15.jpg"/>
          <p:cNvPicPr>
            <a:picLocks noChangeAspect="1"/>
          </p:cNvPicPr>
          <p:nvPr/>
        </p:nvPicPr>
        <p:blipFill>
          <a:blip r:embed="rId16"/>
          <a:srcRect t="3846" b="3846"/>
          <a:stretch>
            <a:fillRect/>
          </a:stretch>
        </p:blipFill>
        <p:spPr>
          <a:xfrm>
            <a:off x="8280000" y="5148000"/>
            <a:ext cx="1872000" cy="129600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334000" y="5202000"/>
            <a:ext cx="288000" cy="2160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4000" y="5209200"/>
            <a:ext cx="28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6150"/>
              </a:lnSpc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0000" y="6480000"/>
            <a:ext cx="187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450"/>
              </a:lnSpc>
            </a:pPr>
            <a:r>
              <a:rPr sz="720" b="1">
                <a:solidFill>
                  <a:srgbClr val="1D2421"/>
                </a:solidFill>
                <a:latin typeface="Yu Gothic"/>
                <a:ea typeface="Yu Gothic"/>
              </a:rPr>
              <a:t>脇道東端から南西：脇道南側区画（重機・石材）</a:t>
            </a:r>
          </a:p>
          <a:p>
            <a:pPr algn="l">
              <a:lnSpc>
                <a:spcPct val="117450"/>
              </a:lnSpc>
            </a:pPr>
            <a:r>
              <a:rPr sz="720" b="0">
                <a:solidFill>
                  <a:srgbClr val="1D2421"/>
                </a:solidFill>
                <a:latin typeface="Yu Gothic"/>
                <a:ea typeface="Yu Gothic"/>
              </a:rPr>
              <a:t>⑨ 隣接地｜方向 約235°｜精度中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92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324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900" b="1">
                <a:solidFill>
                  <a:srgbClr val="2E6B52"/>
                </a:solidFill>
                <a:latin typeface="Yu Gothic"/>
                <a:ea typeface="Yu Gothic"/>
              </a:rPr>
              <a:t>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22000"/>
            <a:ext cx="900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1900" b="1">
                <a:solidFill>
                  <a:srgbClr val="1F4D3A"/>
                </a:solidFill>
                <a:latin typeface="Yu Gothic"/>
                <a:ea typeface="Yu Gothic"/>
              </a:rPr>
              <a:t>確認できなかった事項の一覧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990000"/>
            <a:ext cx="9684000" cy="14400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720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株式会社グリーン興産｜チップヤード候補地 土地取得・開発検討資料（第1版 2026年10月）｜協議用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7200000"/>
            <a:ext cx="11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150"/>
              </a:lnSpc>
            </a:pPr>
            <a:r>
              <a:rPr sz="750" b="0">
                <a:solidFill>
                  <a:srgbClr val="8A948F"/>
                </a:solidFill>
                <a:latin typeface="Yu Gothic"/>
                <a:ea typeface="Yu Gothic"/>
              </a:rPr>
              <a:t>19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4000" y="1188000"/>
          <a:ext cx="9684000" cy="5529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160000"/>
                <a:gridCol w="4680000"/>
                <a:gridCol w="2844000"/>
              </a:tblGrid>
              <a:tr h="460800"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事項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確認できなかった理由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確認方法</a:t>
                      </a:r>
                    </a:p>
                  </a:txBody>
                  <a:tcPr marL="50400" marR="50400" marT="21600" marB="21600" anchor="ctr">
                    <a:solidFill>
                      <a:srgbClr val="1F4D3A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写真のGPS・撮影日時・方位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EXIFに記録なし（共有時に削除とみられる）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元データの再共有、または現地で再撮影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土地境界・正確な面積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図面に縮尺・方位・座標なし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登記・地積測量図・現地測量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地番と所有者の対応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引出線が重なり読取りが不確実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登記事項証明書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色区分の意味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凡例なし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図面作成者に確認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地目・農振区分・都市計画区域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公開情報で確定できず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宍粟市・農業委員会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県道の路線番号・幅員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地図表示のみ・計測なし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道路台帳・現地計測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ハザード区域の正式範囲・浸水深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参考表示（タイル）のみ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兵庫県CGハザードマップ・市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電力容量・上空電線の高さ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現地計測なし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電力会社・現地計測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水路の管理者・水利権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現地で確認できず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市・水利組合・自治会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埋蔵文化財包蔵地か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未調査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市教育委員会（文化財担当）</a:t>
                      </a:r>
                    </a:p>
                  </a:txBody>
                  <a:tcPr marL="50400" marR="50400" marT="21600" marB="21600" anchor="ctr">
                    <a:solidFill>
                      <a:srgbClr val="F4F7F5"/>
                    </a:solidFill>
                  </a:tcPr>
                </a:tc>
              </a:tr>
              <a:tr h="460800"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費用・収支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根拠となる見積・単価なし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 b="0">
                          <a:solidFill>
                            <a:srgbClr val="1D2421"/>
                          </a:solidFill>
                          <a:latin typeface="Yu Gothic"/>
                          <a:ea typeface="Yu Gothic"/>
                        </a:rPr>
                        <a:t>見積取得後、収支シート（Excel）で試算</a:t>
                      </a:r>
                    </a:p>
                  </a:txBody>
                  <a:tcPr marL="50400" marR="504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チップヤード土地取得・開発検討資料</dc:title>
  <dc:subject/>
  <dc:creator>株式会社グリーン興産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