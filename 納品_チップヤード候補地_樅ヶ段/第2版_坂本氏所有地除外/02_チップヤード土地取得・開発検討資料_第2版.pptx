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.jpg"/><Relationship Id="rId4" Type="http://schemas.openxmlformats.org/officeDocument/2006/relationships/image" Target="../media/image19.jpg"/><Relationship Id="rId5" Type="http://schemas.openxmlformats.org/officeDocument/2006/relationships/image" Target="../media/image2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6" Type="http://schemas.openxmlformats.org/officeDocument/2006/relationships/image" Target="../media/image32.jpg"/><Relationship Id="rId7" Type="http://schemas.openxmlformats.org/officeDocument/2006/relationships/image" Target="../media/image33.jpg"/><Relationship Id="rId8" Type="http://schemas.openxmlformats.org/officeDocument/2006/relationships/image" Target="../media/image34.jpg"/><Relationship Id="rId9" Type="http://schemas.openxmlformats.org/officeDocument/2006/relationships/image" Target="../media/image35.jpg"/><Relationship Id="rId10" Type="http://schemas.openxmlformats.org/officeDocument/2006/relationships/image" Target="../media/image36.jpg"/><Relationship Id="rId11" Type="http://schemas.openxmlformats.org/officeDocument/2006/relationships/image" Target="../media/image37.jpg"/><Relationship Id="rId12" Type="http://schemas.openxmlformats.org/officeDocument/2006/relationships/image" Target="../media/image38.jpg"/><Relationship Id="rId13" Type="http://schemas.openxmlformats.org/officeDocument/2006/relationships/image" Target="../media/image39.jpg"/><Relationship Id="rId14" Type="http://schemas.openxmlformats.org/officeDocument/2006/relationships/image" Target="../media/image40.jpg"/><Relationship Id="rId15" Type="http://schemas.openxmlformats.org/officeDocument/2006/relationships/image" Target="../media/image41.jpg"/><Relationship Id="rId16" Type="http://schemas.openxmlformats.org/officeDocument/2006/relationships/image" Target="../media/image4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3.jpg"/>
          <p:cNvPicPr>
            <a:picLocks noChangeAspect="1"/>
          </p:cNvPicPr>
          <p:nvPr/>
        </p:nvPicPr>
        <p:blipFill>
          <a:blip r:embed="rId2"/>
          <a:srcRect t="23485" b="23485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940000" cy="75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75600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936000"/>
            <a:ext cx="504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000" b="1">
                <a:solidFill>
                  <a:srgbClr val="2E6B52"/>
                </a:solidFill>
                <a:latin typeface="Yu Gothic"/>
                <a:ea typeface="Yu Gothic"/>
              </a:rPr>
              <a:t>株式会社グリーン興産｜協議用資料（第2版）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1440000"/>
            <a:ext cx="5220000" cy="14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450"/>
              </a:lnSpc>
            </a:pPr>
            <a:r>
              <a:rPr sz="2400" b="1">
                <a:solidFill>
                  <a:srgbClr val="1F4D3A"/>
                </a:solidFill>
                <a:latin typeface="Yu Gothic"/>
                <a:ea typeface="Yu Gothic"/>
              </a:rPr>
              <a:t>木質バイオマス燃料</a:t>
            </a:r>
          </a:p>
          <a:p>
            <a:pPr algn="l">
              <a:lnSpc>
                <a:spcPct val="117450"/>
              </a:lnSpc>
            </a:pPr>
            <a:r>
              <a:rPr sz="2400" b="1">
                <a:solidFill>
                  <a:srgbClr val="1F4D3A"/>
                </a:solidFill>
                <a:latin typeface="Yu Gothic"/>
                <a:ea typeface="Yu Gothic"/>
              </a:rPr>
              <a:t>チップヤード建設候補地</a:t>
            </a:r>
          </a:p>
          <a:p>
            <a:pPr algn="l">
              <a:lnSpc>
                <a:spcPct val="117450"/>
              </a:lnSpc>
            </a:pPr>
            <a:r>
              <a:rPr sz="2400" b="1">
                <a:solidFill>
                  <a:srgbClr val="1F4D3A"/>
                </a:solidFill>
                <a:latin typeface="Yu Gothic"/>
                <a:ea typeface="Yu Gothic"/>
              </a:rPr>
              <a:t>土地取得・開発検討資料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3024000"/>
            <a:ext cx="4320000" cy="288000"/>
          </a:xfrm>
          <a:prstGeom prst="rect">
            <a:avLst/>
          </a:prstGeom>
          <a:solidFill>
            <a:srgbClr val="B3261E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l">
              <a:lnSpc>
                <a:spcPct val="126150"/>
              </a:lnSpc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</a:rPr>
              <a:t>第2版：坂本さん所有地を今回の取得対象から除外</a:t>
            </a:r>
          </a:p>
        </p:txBody>
      </p:sp>
      <p:sp>
        <p:nvSpPr>
          <p:cNvPr id="8" name="Rectangle 7"/>
          <p:cNvSpPr/>
          <p:nvPr/>
        </p:nvSpPr>
        <p:spPr>
          <a:xfrm>
            <a:off x="648000" y="3528000"/>
            <a:ext cx="1440000" cy="288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000" y="3708000"/>
            <a:ext cx="5040000" cy="1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9200"/>
              </a:lnSpc>
            </a:pPr>
            <a:r>
              <a:rPr sz="1050" b="0">
                <a:solidFill>
                  <a:srgbClr val="1D2421"/>
                </a:solidFill>
                <a:latin typeface="Yu Gothic"/>
                <a:ea typeface="Yu Gothic"/>
              </a:rPr>
              <a:t>候補地：兵庫県宍粟市一宮町東河内 字樅ヶ段 付近</a:t>
            </a:r>
          </a:p>
          <a:p>
            <a:pPr algn="l">
              <a:lnSpc>
                <a:spcPct val="139200"/>
              </a:lnSpc>
            </a:pPr>
            <a:r>
              <a:rPr sz="1050" b="0">
                <a:solidFill>
                  <a:srgbClr val="1D2421"/>
                </a:solidFill>
                <a:latin typeface="Yu Gothic"/>
                <a:ea typeface="Yu Gothic"/>
              </a:rPr>
              <a:t>基準座標：北緯35.0992884°／東経134.6401387°</a:t>
            </a:r>
          </a:p>
          <a:p>
            <a:pPr algn="l">
              <a:lnSpc>
                <a:spcPct val="139200"/>
              </a:lnSpc>
            </a:pPr>
            <a:r>
              <a:rPr sz="1050" b="0">
                <a:solidFill>
                  <a:srgbClr val="1D2421"/>
                </a:solidFill>
                <a:latin typeface="Yu Gothic"/>
                <a:ea typeface="Yu Gothic"/>
              </a:rPr>
              <a:t>作成日：2026年10月10日（第1版 同日）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5256000"/>
            <a:ext cx="5040000" cy="158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860" b="0">
                <a:solidFill>
                  <a:srgbClr val="5F6B66"/>
                </a:solidFill>
                <a:latin typeface="Yu Gothic"/>
                <a:ea typeface="Yu Gothic"/>
              </a:rPr>
              <a:t>本資料の位置付け</a:t>
            </a:r>
          </a:p>
          <a:p>
            <a:pPr algn="l">
              <a:lnSpc>
                <a:spcPct val="130500"/>
              </a:lnSpc>
            </a:pPr>
            <a:r>
              <a:rPr sz="860" b="0">
                <a:solidFill>
                  <a:srgbClr val="5F6B66"/>
                </a:solidFill>
                <a:latin typeface="Yu Gothic"/>
                <a:ea typeface="Yu Gothic"/>
              </a:rPr>
              <a:t>・土地所有者の坂本さんが現時点で売却しない意向のため、同氏の所有地を除外して計画を再検討した版です。</a:t>
            </a:r>
          </a:p>
          <a:p>
            <a:pPr algn="l">
              <a:lnSpc>
                <a:spcPct val="130500"/>
              </a:lnSpc>
            </a:pPr>
            <a:r>
              <a:rPr sz="860" b="0">
                <a:solidFill>
                  <a:srgbClr val="5F6B66"/>
                </a:solidFill>
                <a:latin typeface="Yu Gothic"/>
                <a:ea typeface="Yu Gothic"/>
              </a:rPr>
              <a:t>・「売却しない」は協議上の前提で、法的に取得不能と断定するものではありません。</a:t>
            </a:r>
          </a:p>
          <a:p>
            <a:pPr algn="l">
              <a:lnSpc>
                <a:spcPct val="130500"/>
              </a:lnSpc>
            </a:pPr>
            <a:r>
              <a:rPr sz="860" b="0">
                <a:solidFill>
                  <a:srgbClr val="5F6B66"/>
                </a:solidFill>
                <a:latin typeface="Yu Gothic"/>
                <a:ea typeface="Yu Gothic"/>
              </a:rPr>
              <a:t>・土地区分は図面ラベルの判読による概略で、境界・面積・所有者は未確定です。配置案は概念図です。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0000" y="7056000"/>
            <a:ext cx="439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FFFFFF"/>
                </a:solidFill>
                <a:latin typeface="Yu Gothic"/>
                <a:ea typeface="Yu Gothic"/>
              </a:rPr>
              <a:t>写真13：取得検討対象（2368）付近から南を見る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64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00 土地取得対象変更について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44000" y="306000"/>
            <a:ext cx="2844000" cy="216000"/>
          </a:xfrm>
          <a:prstGeom prst="rect">
            <a:avLst/>
          </a:prstGeom>
          <a:solidFill>
            <a:srgbClr val="B3261E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800" b="1">
                <a:solidFill>
                  <a:srgbClr val="FFFFFF"/>
                </a:solidFill>
                <a:latin typeface="Yu Gothic"/>
                <a:ea typeface="Yu Gothic"/>
              </a:rPr>
              <a:t>第2版：坂本さん所有地を取得対象から除外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000" y="522000"/>
            <a:ext cx="9684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土地取得対象の変更について</a:t>
            </a:r>
          </a:p>
        </p:txBody>
      </p:sp>
      <p:sp>
        <p:nvSpPr>
          <p:cNvPr id="6" name="Rectangle 5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4000" y="7200000"/>
            <a:ext cx="79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土地取得・開発検討資料（第2版 2026年10月）｜協議用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2 /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" y="1224000"/>
            <a:ext cx="4680000" cy="15840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000" y="1332000"/>
            <a:ext cx="439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050" b="1">
                <a:solidFill>
                  <a:srgbClr val="B3261E"/>
                </a:solidFill>
                <a:latin typeface="Yu Gothic"/>
                <a:ea typeface="Yu Gothic"/>
              </a:rPr>
              <a:t>変更理由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1584000"/>
            <a:ext cx="4392000" cy="11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1030" b="0">
                <a:solidFill>
                  <a:srgbClr val="1D2421"/>
                </a:solidFill>
                <a:latin typeface="Yu Gothic"/>
                <a:ea typeface="Yu Gothic"/>
              </a:rPr>
              <a:t>土地所有者である</a:t>
            </a:r>
            <a:r>
              <a:rPr sz="1030" b="1">
                <a:solidFill>
                  <a:srgbClr val="1D2421"/>
                </a:solidFill>
                <a:latin typeface="Yu Gothic"/>
                <a:ea typeface="Yu Gothic"/>
              </a:rPr>
              <a:t>坂本さん</a:t>
            </a:r>
            <a:r>
              <a:rPr sz="1030" b="0">
                <a:solidFill>
                  <a:srgbClr val="1D2421"/>
                </a:solidFill>
                <a:latin typeface="Yu Gothic"/>
                <a:ea typeface="Yu Gothic"/>
              </a:rPr>
              <a:t>が、現時点で土地を売却しない意向のため、同氏の所有地を今回の土地買収対象から</a:t>
            </a:r>
            <a:r>
              <a:rPr sz="1030" b="1">
                <a:solidFill>
                  <a:srgbClr val="1D2421"/>
                </a:solidFill>
                <a:latin typeface="Yu Gothic"/>
                <a:ea typeface="Yu Gothic"/>
              </a:rPr>
              <a:t>除外</a:t>
            </a:r>
            <a:r>
              <a:rPr sz="1030" b="0">
                <a:solidFill>
                  <a:srgbClr val="1D2421"/>
                </a:solidFill>
                <a:latin typeface="Yu Gothic"/>
                <a:ea typeface="Yu Gothic"/>
              </a:rPr>
              <a:t>する。</a:t>
            </a:r>
          </a:p>
          <a:p>
            <a:pPr algn="l">
              <a:lnSpc>
                <a:spcPct val="130500"/>
              </a:lnSpc>
            </a:pPr>
            <a:r>
              <a:rPr sz="1030" b="0">
                <a:solidFill>
                  <a:srgbClr val="1D2421"/>
                </a:solidFill>
                <a:latin typeface="Yu Gothic"/>
                <a:ea typeface="Yu Gothic"/>
              </a:rPr>
              <a:t>※協議上の前提であり、法的に売却不能な土地と断定するものではない。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" y="2952000"/>
            <a:ext cx="4680000" cy="1080000"/>
          </a:xfrm>
          <a:prstGeom prst="roundRect">
            <a:avLst>
              <a:gd name="adj" fmla="val 8000"/>
            </a:avLst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000" y="3060000"/>
            <a:ext cx="439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050" b="1">
                <a:solidFill>
                  <a:srgbClr val="1F4D3A"/>
                </a:solidFill>
                <a:latin typeface="Yu Gothic"/>
                <a:ea typeface="Yu Gothic"/>
              </a:rPr>
              <a:t>今後の方針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3312000"/>
            <a:ext cx="4392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1030" b="0">
                <a:solidFill>
                  <a:srgbClr val="1D2421"/>
                </a:solidFill>
                <a:latin typeface="Yu Gothic"/>
                <a:ea typeface="Yu Gothic"/>
              </a:rPr>
              <a:t>その他の土地を活用して、木質バイオマスチップヤードの建設を検討する。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000" y="4176000"/>
            <a:ext cx="4680000" cy="2808000"/>
          </a:xfrm>
          <a:prstGeom prst="roundRect">
            <a:avLst>
              <a:gd name="adj" fmla="val 8000"/>
            </a:avLst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000" y="4284000"/>
            <a:ext cx="439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050" b="1">
                <a:solidFill>
                  <a:srgbClr val="1F4D3A"/>
                </a:solidFill>
                <a:latin typeface="Yu Gothic"/>
                <a:ea typeface="Yu Gothic"/>
              </a:rPr>
              <a:t>検討事項（本資料で整理）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" y="4536000"/>
            <a:ext cx="4392000" cy="23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960" b="0">
                <a:solidFill>
                  <a:srgbClr val="1D2421"/>
                </a:solidFill>
                <a:latin typeface="Yu Gothic"/>
                <a:ea typeface="Yu Gothic"/>
              </a:rPr>
              <a:t>・土地面積への影響 → 除外後の面積は</a:t>
            </a:r>
            <a:r>
              <a:rPr sz="960" b="1">
                <a:solidFill>
                  <a:srgbClr val="1D2421"/>
                </a:solidFill>
                <a:latin typeface="Yu Gothic"/>
                <a:ea typeface="Yu Gothic"/>
              </a:rPr>
              <a:t>不明</a:t>
            </a:r>
            <a:r>
              <a:rPr sz="960" b="0">
                <a:solidFill>
                  <a:srgbClr val="1D2421"/>
                </a:solidFill>
                <a:latin typeface="Yu Gothic"/>
                <a:ea typeface="Yu Gothic"/>
              </a:rPr>
              <a:t>（登記・測量待ち）</a:t>
            </a:r>
          </a:p>
          <a:p>
            <a:pPr algn="l">
              <a:lnSpc>
                <a:spcPct val="130500"/>
              </a:lnSpc>
            </a:pPr>
            <a:r>
              <a:rPr sz="960" b="0">
                <a:solidFill>
                  <a:srgbClr val="1D2421"/>
                </a:solidFill>
                <a:latin typeface="Yu Gothic"/>
                <a:ea typeface="Yu Gothic"/>
              </a:rPr>
              <a:t>・敷地形状への影響 → 中段は東側の不整形区画に縮小</a:t>
            </a:r>
          </a:p>
          <a:p>
            <a:pPr algn="l">
              <a:lnSpc>
                <a:spcPct val="130500"/>
              </a:lnSpc>
            </a:pPr>
            <a:r>
              <a:rPr sz="960" b="0">
                <a:solidFill>
                  <a:srgbClr val="1D2421"/>
                </a:solidFill>
                <a:latin typeface="Yu Gothic"/>
                <a:ea typeface="Yu Gothic"/>
              </a:rPr>
              <a:t>・施設配置 → 坂本さん所有地を使わない新1〜3案を作成</a:t>
            </a:r>
          </a:p>
          <a:p>
            <a:pPr algn="l">
              <a:lnSpc>
                <a:spcPct val="130500"/>
              </a:lnSpc>
            </a:pPr>
            <a:r>
              <a:rPr sz="960" b="0">
                <a:solidFill>
                  <a:srgbClr val="1D2421"/>
                </a:solidFill>
                <a:latin typeface="Yu Gothic"/>
                <a:ea typeface="Yu Gothic"/>
              </a:rPr>
              <a:t>・大型車両動線 → 出入口を北段または2369-4に変更</a:t>
            </a:r>
          </a:p>
          <a:p>
            <a:pPr algn="l">
              <a:lnSpc>
                <a:spcPct val="130500"/>
              </a:lnSpc>
            </a:pPr>
            <a:r>
              <a:rPr sz="960" b="0">
                <a:solidFill>
                  <a:srgbClr val="1D2421"/>
                </a:solidFill>
                <a:latin typeface="Yu Gothic"/>
                <a:ea typeface="Yu Gothic"/>
              </a:rPr>
              <a:t>・造成条件 → 平坦な下段が使えず、上段・北段中心に</a:t>
            </a:r>
          </a:p>
        </p:txBody>
      </p:sp>
      <p:pic>
        <p:nvPicPr>
          <p:cNvPr id="18" name="Picture 17" descr="M6A_施設配置案_A案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0" y="1272000"/>
            <a:ext cx="2303999" cy="3072000"/>
          </a:xfrm>
          <a:prstGeom prst="rect">
            <a:avLst/>
          </a:prstGeom>
          <a:ln w="9525">
            <a:solidFill>
              <a:srgbClr val="D9DFDC"/>
            </a:solidFill>
          </a:ln>
        </p:spPr>
      </p:pic>
      <p:pic>
        <p:nvPicPr>
          <p:cNvPr id="19" name="Picture 18" descr="M9-2_施設配置案_新2案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4000" y="1189292"/>
            <a:ext cx="2303999" cy="3237415"/>
          </a:xfrm>
          <a:prstGeom prst="rect">
            <a:avLst/>
          </a:prstGeom>
          <a:ln w="9525">
            <a:solidFill>
              <a:srgbClr val="D9DFDC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5400000" y="4464000"/>
            <a:ext cx="230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150"/>
              </a:lnSpc>
            </a:pPr>
            <a:r>
              <a:rPr sz="800" b="1">
                <a:solidFill>
                  <a:srgbClr val="5F6B66"/>
                </a:solidFill>
                <a:latin typeface="Yu Gothic"/>
                <a:ea typeface="Yu Gothic"/>
              </a:rPr>
              <a:t>変更前：第1版A案（坂本さん所有地を含む）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4000" y="4464000"/>
            <a:ext cx="230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150"/>
              </a:lnSpc>
            </a:pPr>
            <a:r>
              <a:rPr sz="800" b="1">
                <a:solidFill>
                  <a:srgbClr val="1F4D3A"/>
                </a:solidFill>
                <a:latin typeface="Yu Gothic"/>
                <a:ea typeface="Yu Gothic"/>
              </a:rPr>
              <a:t>変更後：新2案（坂本さん所有地を使わない）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00000" y="4824000"/>
          <a:ext cx="4788000" cy="20736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368000"/>
                <a:gridCol w="3420000"/>
              </a:tblGrid>
              <a:tr h="345600">
                <a:tc>
                  <a:txBody>
                    <a:bodyPr wrap="square"/>
                    <a:lstStyle/>
                    <a:p>
                      <a:r>
                        <a:rPr sz="84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項目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変更内容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</a:tr>
              <a:tr h="34560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取得対象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坂本さん所有地を除外（赤で表示）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4560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出入口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交差部付近（坂本さん所有地）→ 北段の県道沿い等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4560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配置案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第1版A〜C案は廃止 → 新1〜3案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4560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写真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番号・位置・方向は維持。取得区分を追記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4560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未確定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所有者・境界・面積（登記で確定）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64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01 計画概要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44000" y="306000"/>
            <a:ext cx="2844000" cy="216000"/>
          </a:xfrm>
          <a:prstGeom prst="rect">
            <a:avLst/>
          </a:prstGeom>
          <a:solidFill>
            <a:srgbClr val="B3261E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800" b="1">
                <a:solidFill>
                  <a:srgbClr val="FFFFFF"/>
                </a:solidFill>
                <a:latin typeface="Yu Gothic"/>
                <a:ea typeface="Yu Gothic"/>
              </a:rPr>
              <a:t>第2版：坂本さん所有地を取得対象から除外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000" y="522000"/>
            <a:ext cx="9684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変更後の概要と結論（サマリー）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4000" y="7200000"/>
            <a:ext cx="79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土地取得・開発検討資料（第2版 2026年10月）｜協議用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3 /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" y="1224000"/>
            <a:ext cx="4752000" cy="28800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000" y="1332000"/>
            <a:ext cx="446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050" b="1">
                <a:solidFill>
                  <a:srgbClr val="B3261E"/>
                </a:solidFill>
                <a:latin typeface="Yu Gothic"/>
                <a:ea typeface="Yu Gothic"/>
              </a:rPr>
              <a:t>結論（第2版）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1584000"/>
            <a:ext cx="4464000" cy="24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960" b="1">
                <a:solidFill>
                  <a:srgbClr val="1D2421"/>
                </a:solidFill>
                <a:latin typeface="Yu Gothic"/>
                <a:ea typeface="Yu Gothic"/>
              </a:rPr>
              <a:t>坂本さん所有地を除外しても計画は継続検討の余地があるが、成立の鍵は「北段の所有者」と「県道への進入路」。</a:t>
            </a:r>
          </a:p>
          <a:p>
            <a:pPr algn="l">
              <a:lnSpc>
                <a:spcPct val="130500"/>
              </a:lnSpc>
            </a:pPr>
            <a:r>
              <a:rPr sz="960" b="0">
                <a:solidFill>
                  <a:srgbClr val="1D2421"/>
                </a:solidFill>
                <a:latin typeface="Yu Gothic"/>
                <a:ea typeface="Yu Gothic"/>
              </a:rPr>
              <a:t>・坂本さん名義と判読できた筆は、県道沿い（2369-1）・交差部（2372-1）・脇道沿い（2374）と北端（2355-3・2356-1）。第1版で最も使いやすかった平坦な下段が対象外になる。</a:t>
            </a:r>
          </a:p>
          <a:p>
            <a:pPr algn="l">
              <a:lnSpc>
                <a:spcPct val="130500"/>
              </a:lnSpc>
            </a:pPr>
            <a:r>
              <a:rPr sz="960" b="0">
                <a:solidFill>
                  <a:srgbClr val="1D2421"/>
                </a:solidFill>
                <a:latin typeface="Yu Gothic"/>
                <a:ea typeface="Yu Gothic"/>
              </a:rPr>
              <a:t>・坂本さん以外と判読できた取得検討対象は</a:t>
            </a:r>
            <a:r>
              <a:rPr sz="960" b="1">
                <a:solidFill>
                  <a:srgbClr val="1D2421"/>
                </a:solidFill>
                <a:latin typeface="Yu Gothic"/>
                <a:ea typeface="Yu Gothic"/>
              </a:rPr>
              <a:t>2368-1〜3（中段東側）のみ</a:t>
            </a:r>
            <a:r>
              <a:rPr sz="960" b="0">
                <a:solidFill>
                  <a:srgbClr val="1D2421"/>
                </a:solidFill>
                <a:latin typeface="Yu Gothic"/>
                <a:ea typeface="Yu Gothic"/>
              </a:rPr>
              <a:t>で、図面上は県道に直接接していない。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" y="4248000"/>
            <a:ext cx="4752000" cy="2736000"/>
          </a:xfrm>
          <a:prstGeom prst="roundRect">
            <a:avLst>
              <a:gd name="adj" fmla="val 8000"/>
            </a:avLst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000" y="4356000"/>
            <a:ext cx="446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050" b="1">
                <a:solidFill>
                  <a:srgbClr val="1F4D3A"/>
                </a:solidFill>
                <a:latin typeface="Yu Gothic"/>
                <a:ea typeface="Yu Gothic"/>
              </a:rPr>
              <a:t>推奨する進め方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4608000"/>
            <a:ext cx="4464000" cy="23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960" b="0">
                <a:solidFill>
                  <a:srgbClr val="1D2421"/>
                </a:solidFill>
                <a:latin typeface="Yu Gothic"/>
                <a:ea typeface="Yu Gothic"/>
              </a:rPr>
              <a:t>1. 黄色区域（北段・2369-4〜7）の</a:t>
            </a:r>
            <a:r>
              <a:rPr sz="960" b="1">
                <a:solidFill>
                  <a:srgbClr val="1D2421"/>
                </a:solidFill>
                <a:latin typeface="Yu Gothic"/>
                <a:ea typeface="Yu Gothic"/>
              </a:rPr>
              <a:t>登記を最優先で取得</a:t>
            </a:r>
            <a:r>
              <a:rPr sz="960" b="0">
                <a:solidFill>
                  <a:srgbClr val="1D2421"/>
                </a:solidFill>
                <a:latin typeface="Yu Gothic"/>
                <a:ea typeface="Yu Gothic"/>
              </a:rPr>
              <a:t>し、坂本さん名義が含まれるか確認。</a:t>
            </a:r>
          </a:p>
          <a:p>
            <a:pPr algn="l">
              <a:lnSpc>
                <a:spcPct val="130500"/>
              </a:lnSpc>
            </a:pPr>
            <a:r>
              <a:rPr sz="960" b="0">
                <a:solidFill>
                  <a:srgbClr val="1D2421"/>
                </a:solidFill>
                <a:latin typeface="Yu Gothic"/>
                <a:ea typeface="Yu Gothic"/>
              </a:rPr>
              <a:t>2. 北段が取得可能 → </a:t>
            </a:r>
            <a:r>
              <a:rPr sz="960" b="1">
                <a:solidFill>
                  <a:srgbClr val="1D2421"/>
                </a:solidFill>
                <a:latin typeface="Yu Gothic"/>
                <a:ea typeface="Yu Gothic"/>
              </a:rPr>
              <a:t>新1案で開始、新2案へ拡張</a:t>
            </a:r>
            <a:r>
              <a:rPr sz="960" b="0">
                <a:solidFill>
                  <a:srgbClr val="1D2421"/>
                </a:solidFill>
                <a:latin typeface="Yu Gothic"/>
                <a:ea typeface="Yu Gothic"/>
              </a:rPr>
              <a:t>（破砕機が住宅から離れる利点）。</a:t>
            </a:r>
          </a:p>
          <a:p>
            <a:pPr algn="l">
              <a:lnSpc>
                <a:spcPct val="130500"/>
              </a:lnSpc>
            </a:pPr>
            <a:r>
              <a:rPr sz="960" b="0">
                <a:solidFill>
                  <a:srgbClr val="1D2421"/>
                </a:solidFill>
                <a:latin typeface="Yu Gothic"/>
                <a:ea typeface="Yu Gothic"/>
              </a:rPr>
              <a:t>3. 北段が困難 → 2369-4経由の</a:t>
            </a:r>
            <a:r>
              <a:rPr sz="960" b="1">
                <a:solidFill>
                  <a:srgbClr val="1D2421"/>
                </a:solidFill>
                <a:latin typeface="Yu Gothic"/>
                <a:ea typeface="Yu Gothic"/>
              </a:rPr>
              <a:t>新3案</a:t>
            </a:r>
            <a:r>
              <a:rPr sz="960" b="0">
                <a:solidFill>
                  <a:srgbClr val="1D2421"/>
                </a:solidFill>
                <a:latin typeface="Yu Gothic"/>
                <a:ea typeface="Yu Gothic"/>
              </a:rPr>
              <a:t>を検討。</a:t>
            </a:r>
          </a:p>
          <a:p>
            <a:pPr algn="l">
              <a:lnSpc>
                <a:spcPct val="130500"/>
              </a:lnSpc>
            </a:pPr>
            <a:r>
              <a:rPr sz="960" b="0">
                <a:solidFill>
                  <a:srgbClr val="1D2421"/>
                </a:solidFill>
                <a:latin typeface="Yu Gothic"/>
                <a:ea typeface="Yu Gothic"/>
              </a:rPr>
              <a:t>4. いずれも困難 → 坂本さんとの通行承諾・借地の可能性、または候補地の再検討。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72000" y="1224000"/>
          <a:ext cx="4716000" cy="31752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224000"/>
                <a:gridCol w="3492000"/>
              </a:tblGrid>
              <a:tr h="352800">
                <a:tc>
                  <a:txBody>
                    <a:bodyPr wrap="square"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項目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内容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</a:tr>
              <a:tr h="3528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所在地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兵庫県宍粟市一宮町東河内（字 樅ヶ段）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528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基準座標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35.0992884, 134.6401387（維持）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528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取得検討対象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2368-1, 2368-2, 2368-3（緑）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528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要確認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北段（2356〜2362ほか）、2369-4〜7、脇道南側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528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取得対象外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坂本さん所有地（赤）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528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面積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除外後の面積は不明（創作しない）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528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配置案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新1案 北段集約／新2案 北段＋中段連結／新3案 中段最小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528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影響分析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15項目中 C（追加調査・協議）9、B 4、A 2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472000" y="4608000"/>
            <a:ext cx="4716000" cy="2376000"/>
          </a:xfrm>
          <a:prstGeom prst="rect">
            <a:avLst/>
          </a:prstGeom>
          <a:solidFill>
            <a:srgbClr val="FFF6E5"/>
          </a:solidFill>
        </p:spPr>
        <p:txBody>
          <a:bodyPr wrap="square" lIns="90000" rIns="90000" tIns="54000" bIns="54000" anchor="t">
            <a:spAutoFit/>
          </a:bodyPr>
          <a:lstStyle/>
          <a:p>
            <a:pPr algn="l">
              <a:lnSpc>
                <a:spcPct val="134850"/>
              </a:lnSpc>
            </a:pPr>
            <a:r>
              <a:rPr sz="919" b="0">
                <a:solidFill>
                  <a:srgbClr val="1D2421"/>
                </a:solidFill>
                <a:latin typeface="Yu Gothic"/>
                <a:ea typeface="Yu Gothic"/>
              </a:rPr>
              <a:t>次にやること（2週間以内）</a:t>
            </a:r>
          </a:p>
          <a:p>
            <a:pPr algn="l">
              <a:lnSpc>
                <a:spcPct val="134850"/>
              </a:lnSpc>
            </a:pPr>
            <a:r>
              <a:rPr sz="919" b="0">
                <a:solidFill>
                  <a:srgbClr val="1D2421"/>
                </a:solidFill>
                <a:latin typeface="Yu Gothic"/>
                <a:ea typeface="Yu Gothic"/>
              </a:rPr>
              <a:t>1. 黄色区域・緑区域の登記事項証明書と公図を取得</a:t>
            </a:r>
          </a:p>
          <a:p>
            <a:pPr algn="l">
              <a:lnSpc>
                <a:spcPct val="134850"/>
              </a:lnSpc>
            </a:pPr>
            <a:r>
              <a:rPr sz="919" b="0">
                <a:solidFill>
                  <a:srgbClr val="1D2421"/>
                </a:solidFill>
                <a:latin typeface="Yu Gothic"/>
                <a:ea typeface="Yu Gothic"/>
              </a:rPr>
              <a:t>2. 「坂本 修」名義と協議中の坂本さんの同一性・共有者を確認</a:t>
            </a:r>
          </a:p>
          <a:p>
            <a:pPr algn="l">
              <a:lnSpc>
                <a:spcPct val="134850"/>
              </a:lnSpc>
            </a:pPr>
            <a:r>
              <a:rPr sz="919" b="0">
                <a:solidFill>
                  <a:srgbClr val="1D2421"/>
                </a:solidFill>
                <a:latin typeface="Yu Gothic"/>
                <a:ea typeface="Yu Gothic"/>
              </a:rPr>
              <a:t>3. 北段の所有者へ意向打診（許可取得を条件とした契約も選択肢）</a:t>
            </a:r>
          </a:p>
          <a:p>
            <a:pPr algn="l">
              <a:lnSpc>
                <a:spcPct val="134850"/>
              </a:lnSpc>
            </a:pPr>
            <a:r>
              <a:rPr sz="919" b="0">
                <a:solidFill>
                  <a:srgbClr val="1D2421"/>
                </a:solidFill>
                <a:latin typeface="Yu Gothic"/>
                <a:ea typeface="Yu Gothic"/>
              </a:rPr>
              <a:t>4. 県土木事務所に、北段・2369-4からの乗入れを事前相談</a:t>
            </a:r>
          </a:p>
          <a:p>
            <a:pPr algn="l">
              <a:lnSpc>
                <a:spcPct val="134850"/>
              </a:lnSpc>
            </a:pPr>
            <a:r>
              <a:rPr sz="919" b="0">
                <a:solidFill>
                  <a:srgbClr val="1D2421"/>
                </a:solidFill>
                <a:latin typeface="Yu Gothic"/>
                <a:ea typeface="Yu Gothic"/>
              </a:rPr>
              <a:t>5. 坂本さんには、境界立会いへの協力と今後の関係（賃貸・通行承諾の可能性）を丁寧に相談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64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02 位置情報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44000" y="306000"/>
            <a:ext cx="2844000" cy="216000"/>
          </a:xfrm>
          <a:prstGeom prst="rect">
            <a:avLst/>
          </a:prstGeom>
          <a:solidFill>
            <a:srgbClr val="B3261E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800" b="1">
                <a:solidFill>
                  <a:srgbClr val="FFFFFF"/>
                </a:solidFill>
                <a:latin typeface="Yu Gothic"/>
                <a:ea typeface="Yu Gothic"/>
              </a:rPr>
              <a:t>第2版：坂本さん所有地を取得対象から除外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000" y="522000"/>
            <a:ext cx="9684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候補地の位置（国土地理院 地図）— 第1版から変更なし</a:t>
            </a:r>
          </a:p>
        </p:txBody>
      </p:sp>
      <p:sp>
        <p:nvSpPr>
          <p:cNvPr id="6" name="Rectangle 5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4000" y="7200000"/>
            <a:ext cx="79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土地取得・開発検討資料（第2版 2026年10月）｜協議用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4 / 26</a:t>
            </a:r>
          </a:p>
        </p:txBody>
      </p:sp>
      <p:pic>
        <p:nvPicPr>
          <p:cNvPr id="9" name="Picture 8" descr="M3_地理院地図_位置図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1609864"/>
            <a:ext cx="5400000" cy="5024271"/>
          </a:xfrm>
          <a:prstGeom prst="rect">
            <a:avLst/>
          </a:prstGeom>
          <a:ln w="9525">
            <a:solidFill>
              <a:srgbClr val="D9DFDC"/>
            </a:solidFill>
          </a:ln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20000" y="1188000"/>
          <a:ext cx="4068000" cy="2394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152000"/>
                <a:gridCol w="2916000"/>
              </a:tblGrid>
              <a:tr h="342000">
                <a:tc>
                  <a:txBody>
                    <a:bodyPr wrap="square"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確認項目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結果（出典）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Googleマップ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共有URLは 35.0992884,134.6401387 を指す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住所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宍粟市一宮町東河内（地理院 逆ジオコーダ）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字名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「樅ヶ段（もみがだん）」＝図面の字名と一致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河川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染河内川（県道の西側を並走）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道路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県道（路線番号は未確認）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地形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谷底の緩斜面。東西を山林に挟まれた谷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20000" y="3888000"/>
            <a:ext cx="4068000" cy="3060000"/>
          </a:xfrm>
          <a:prstGeom prst="rect">
            <a:avLst/>
          </a:prstGeom>
          <a:solidFill>
            <a:srgbClr val="E8F0EC"/>
          </a:solidFill>
        </p:spPr>
        <p:txBody>
          <a:bodyPr wrap="square" lIns="90000" rIns="90000" tIns="54000" bIns="54000" anchor="t">
            <a:spAutoFit/>
          </a:bodyPr>
          <a:lstStyle/>
          <a:p>
            <a:pPr algn="l">
              <a:lnSpc>
                <a:spcPct val="134850"/>
              </a:lnSpc>
            </a:pPr>
            <a:r>
              <a:rPr sz="900" b="0">
                <a:solidFill>
                  <a:srgbClr val="1D2421"/>
                </a:solidFill>
                <a:latin typeface="Yu Gothic"/>
                <a:ea typeface="Yu Gothic"/>
              </a:rPr>
              <a:t>留意点</a:t>
            </a:r>
          </a:p>
          <a:p>
            <a:pPr algn="l">
              <a:lnSpc>
                <a:spcPct val="134850"/>
              </a:lnSpc>
            </a:pPr>
            <a:r>
              <a:rPr sz="900" b="0">
                <a:solidFill>
                  <a:srgbClr val="1D2421"/>
                </a:solidFill>
                <a:latin typeface="Yu Gothic"/>
                <a:ea typeface="Yu Gothic"/>
              </a:rPr>
              <a:t>・基準座標は候補地を示す地点で、土地の中心や境界ではありません。</a:t>
            </a:r>
          </a:p>
          <a:p>
            <a:pPr algn="l">
              <a:lnSpc>
                <a:spcPct val="134850"/>
              </a:lnSpc>
            </a:pPr>
            <a:r>
              <a:rPr sz="900" b="0">
                <a:solidFill>
                  <a:srgbClr val="1D2421"/>
                </a:solidFill>
                <a:latin typeface="Yu Gothic"/>
                <a:ea typeface="Yu Gothic"/>
              </a:rPr>
              <a:t>・基準座標の付近（県道沿いの下段）は、図面上は坂本さん所有地（2369-1）にあたるとみられます。座標はGoogleマップ共有地点としてそのまま維持しています。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64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03 航空写真・周辺地図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44000" y="306000"/>
            <a:ext cx="2844000" cy="216000"/>
          </a:xfrm>
          <a:prstGeom prst="rect">
            <a:avLst/>
          </a:prstGeom>
          <a:solidFill>
            <a:srgbClr val="B3261E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800" b="1">
                <a:solidFill>
                  <a:srgbClr val="FFFFFF"/>
                </a:solidFill>
                <a:latin typeface="Yu Gothic"/>
                <a:ea typeface="Yu Gothic"/>
              </a:rPr>
              <a:t>第2版：坂本さん所有地を取得対象から除外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000" y="522000"/>
            <a:ext cx="9684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航空写真で見る候補地と取得区分（概略）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4000" y="7200000"/>
            <a:ext cx="79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土地取得・開発検討資料（第2版 2026年10月）｜協議用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5 / 26</a:t>
            </a:r>
          </a:p>
        </p:txBody>
      </p:sp>
      <p:pic>
        <p:nvPicPr>
          <p:cNvPr id="9" name="Picture 8" descr="M2_航空写真_広域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2178000"/>
            <a:ext cx="4860000" cy="3780000"/>
          </a:xfrm>
          <a:prstGeom prst="rect">
            <a:avLst/>
          </a:prstGeom>
          <a:ln w="9525">
            <a:solidFill>
              <a:srgbClr val="D9DFDC"/>
            </a:solidFill>
          </a:ln>
        </p:spPr>
      </p:pic>
      <p:pic>
        <p:nvPicPr>
          <p:cNvPr id="10" name="Picture 9" descr="M10_航空写真_取得区分（概略）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000" y="1188000"/>
            <a:ext cx="4608000" cy="4608000"/>
          </a:xfrm>
          <a:prstGeom prst="rect">
            <a:avLst/>
          </a:prstGeom>
          <a:ln w="9525">
            <a:solidFill>
              <a:srgbClr val="D9DFDC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580000" y="5868000"/>
            <a:ext cx="4608000" cy="11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・右図：図面の区分を航空写真に重ねた概略（相似変換による、数m〜十数mのずれあり）。</a:t>
            </a:r>
          </a:p>
          <a:p>
            <a:pPr algn="l">
              <a:lnSpc>
                <a:spcPct val="130500"/>
              </a:lnSpc>
            </a:pP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・赤＝坂本さん所有地（対象外）は県道沿いと脇道沿いに位置し、取得検討対象（緑）はその奥（東側）。</a:t>
            </a:r>
          </a:p>
          <a:p>
            <a:pPr algn="l">
              <a:lnSpc>
                <a:spcPct val="130500"/>
              </a:lnSpc>
            </a:pP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・出典：国土地理院 シームレス空中写真に加筆。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64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04 候補地図面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44000" y="306000"/>
            <a:ext cx="2844000" cy="216000"/>
          </a:xfrm>
          <a:prstGeom prst="rect">
            <a:avLst/>
          </a:prstGeom>
          <a:solidFill>
            <a:srgbClr val="B3261E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800" b="1">
                <a:solidFill>
                  <a:srgbClr val="FFFFFF"/>
                </a:solidFill>
                <a:latin typeface="Yu Gothic"/>
                <a:ea typeface="Yu Gothic"/>
              </a:rPr>
              <a:t>第2版：坂本さん所有地を取得対象から除外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000" y="522000"/>
            <a:ext cx="9684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図面の読み取りと「坂本さん所有地」の判定方法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4000" y="7200000"/>
            <a:ext cx="79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土地取得・開発検討資料（第2版 2026年10月）｜協議用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6 / 26</a:t>
            </a:r>
          </a:p>
        </p:txBody>
      </p:sp>
      <p:pic>
        <p:nvPicPr>
          <p:cNvPr id="9" name="Picture 8" descr="pl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99" y="1433999"/>
            <a:ext cx="4032000" cy="5376000"/>
          </a:xfrm>
          <a:prstGeom prst="rect">
            <a:avLst/>
          </a:prstGeom>
          <a:ln w="9525">
            <a:solidFill>
              <a:srgbClr val="D9DFDC"/>
            </a:solidFill>
          </a:ln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752000" y="1188000"/>
          <a:ext cx="5436000" cy="34056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792000"/>
                <a:gridCol w="1080000"/>
                <a:gridCol w="3564000"/>
              </a:tblGrid>
              <a:tr h="309600">
                <a:tc>
                  <a:txBody>
                    <a:bodyPr wrap="square"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区分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地番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判定の根拠（図面ラベル）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</a:tr>
              <a:tr h="309600"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赤</a:t>
                      </a:r>
                    </a:p>
                  </a:txBody>
                  <a:tcPr marL="50400" marR="50400" marT="21600" marB="21600" anchor="ctr"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2355-3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ラベル「坂本 修 樅ヶ段2355-3」を判読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09600"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赤</a:t>
                      </a:r>
                    </a:p>
                  </a:txBody>
                  <a:tcPr marL="50400" marR="50400" marT="21600" marB="21600" anchor="ctr"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2356-1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ラベル「坂本 修 樅ヶ段2356-1」を判読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09600"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赤</a:t>
                      </a:r>
                    </a:p>
                  </a:txBody>
                  <a:tcPr marL="50400" marR="50400" marT="21600" marB="21600" anchor="ctr"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2369-1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ラベル「坂本 修 樅ヶ段2369-1」を判読（筆内に記載）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09600"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赤</a:t>
                      </a:r>
                    </a:p>
                  </a:txBody>
                  <a:tcPr marL="50400" marR="50400" marT="21600" marB="21600" anchor="ctr"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2372-1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ラベル「坂本 修 樅ヶ段2372-1」を判読（文字の重なりあり）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09600"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赤</a:t>
                      </a:r>
                    </a:p>
                  </a:txBody>
                  <a:tcPr marL="50400" marR="50400" marT="21600" marB="21600" anchor="ctr"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2374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ラベル「坂本 修 樅ヶ段2374」を判読（筆内に記載）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09600"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赤</a:t>
                      </a:r>
                    </a:p>
                  </a:txBody>
                  <a:tcPr marL="50400" marR="50400" marT="21600" marB="21600" anchor="ctr"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2355-2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ラベル「坂本 修 樅ヶ段2355-2」を判読。図面上の位置は特定できず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09600"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黄＋赤斜線</a:t>
                      </a:r>
                    </a:p>
                  </a:txBody>
                  <a:tcPr marL="50400" marR="50400" marT="21600" marB="21600" anchor="ctr">
                    <a:solidFill>
                      <a:srgbClr val="FFF6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2355-4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「坂本 修 樅ヶ段235…」の引出線がこの筆を指す。地番末尾が原図で切れて判読不可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09600"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黄＋赤斜線</a:t>
                      </a:r>
                    </a:p>
                  </a:txBody>
                  <a:tcPr marL="50400" marR="50400" marT="21600" marB="21600" anchor="ctr">
                    <a:solidFill>
                      <a:srgbClr val="FFF6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2355-5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「坂本 修 樅ヶ段2355-…」の引出線がこの筆を指す。地番末尾判読不可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09600"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黄＋赤斜線</a:t>
                      </a:r>
                    </a:p>
                  </a:txBody>
                  <a:tcPr marL="50400" marR="50400" marT="21600" marB="21600" anchor="ctr">
                    <a:solidFill>
                      <a:srgbClr val="FFF6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2378-1, 2378-2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「坂本 修 樅ヶ段…」の引出線2本がこの区画を指す。地番末尾が原図で切れて判読不可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09600"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緑</a:t>
                      </a:r>
                    </a:p>
                  </a:txBody>
                  <a:tcPr marL="50400" marR="50400" marT="21600" marB="21600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2368-1〜3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ラベル「岡崎悦也 2368-1」「為木秀行 2368-2」「岡崎悦也 2368-3」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752000" y="5040000"/>
            <a:ext cx="5436000" cy="1980000"/>
          </a:xfrm>
          <a:prstGeom prst="rect">
            <a:avLst/>
          </a:prstGeom>
          <a:solidFill>
            <a:srgbClr val="FFF6E5"/>
          </a:solidFill>
        </p:spPr>
        <p:txBody>
          <a:bodyPr wrap="square" lIns="90000" rIns="90000" tIns="54000" bIns="5400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判定ルール</a:t>
            </a:r>
          </a:p>
          <a:p>
            <a:pPr algn="l">
              <a:lnSpc>
                <a:spcPct val="130500"/>
              </a:lnSpc>
            </a:pP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・赤：ラベルに「坂本 修」と地番が併記され、どちらも判読できる筆のみ。</a:t>
            </a:r>
          </a:p>
          <a:p>
            <a:pPr algn="l">
              <a:lnSpc>
                <a:spcPct val="130500"/>
              </a:lnSpc>
            </a:pP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・黄＋赤斜線：「坂本」名の引出線が指すが、原図の端で地番が切れて判読できない筆 → </a:t>
            </a:r>
            <a:r>
              <a:rPr sz="860" b="1">
                <a:solidFill>
                  <a:srgbClr val="1D2421"/>
                </a:solidFill>
                <a:latin typeface="Yu Gothic"/>
                <a:ea typeface="Yu Gothic"/>
              </a:rPr>
              <a:t>推測で赤にせず要確認</a:t>
            </a: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。</a:t>
            </a:r>
          </a:p>
          <a:p>
            <a:pPr algn="l">
              <a:lnSpc>
                <a:spcPct val="130500"/>
              </a:lnSpc>
            </a:pP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・黄：所有者ラベルの引出線が交錯し、地番との対応が読めない筆（坂本さん所有地が含まれる可能性は否定できない）。</a:t>
            </a:r>
          </a:p>
          <a:p>
            <a:pPr algn="l">
              <a:lnSpc>
                <a:spcPct val="130500"/>
              </a:lnSpc>
            </a:pP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・図面上の「坂本 修」と、協議中の坂本さんが同一人物か、共有者がいないかも登記で確認が必要。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64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05 土地取得対象図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44000" y="306000"/>
            <a:ext cx="2844000" cy="216000"/>
          </a:xfrm>
          <a:prstGeom prst="rect">
            <a:avLst/>
          </a:prstGeom>
          <a:solidFill>
            <a:srgbClr val="B3261E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800" b="1">
                <a:solidFill>
                  <a:srgbClr val="FFFFFF"/>
                </a:solidFill>
                <a:latin typeface="Yu Gothic"/>
                <a:ea typeface="Yu Gothic"/>
              </a:rPr>
              <a:t>第2版：坂本さん所有地を取得対象から除外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000" y="522000"/>
            <a:ext cx="9684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土地取得対象区分図（第2版）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4000" y="7200000"/>
            <a:ext cx="79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土地取得・開発検討資料（第2版 2026年10月）｜協議用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7 / 26</a:t>
            </a:r>
          </a:p>
        </p:txBody>
      </p:sp>
      <p:pic>
        <p:nvPicPr>
          <p:cNvPr id="9" name="Picture 8" descr="M7_土地取得対象区分図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34" y="1188000"/>
            <a:ext cx="4176131" cy="5867999"/>
          </a:xfrm>
          <a:prstGeom prst="rect">
            <a:avLst/>
          </a:prstGeom>
          <a:ln w="9525">
            <a:solidFill>
              <a:srgbClr val="D9DFDC"/>
            </a:solidFill>
          </a:ln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968000" y="1188000"/>
          <a:ext cx="5220000" cy="2808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864000"/>
                <a:gridCol w="4356000"/>
              </a:tblGrid>
              <a:tr h="468000">
                <a:tc>
                  <a:txBody>
                    <a:bodyPr wrap="square"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色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意味と該当範囲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</a:tr>
              <a:tr h="4680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緑</a:t>
                      </a:r>
                    </a:p>
                  </a:txBody>
                  <a:tcPr marL="50400" marR="50400" marT="21600" marB="21600" anchor="ctr">
                    <a:solidFill>
                      <a:srgbClr val="2E9E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今回の土地買収 検討対象地：2368-1, 2368-2, 2368-3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赤</a:t>
                      </a:r>
                    </a:p>
                  </a:txBody>
                  <a:tcPr marL="50400" marR="50400" marT="21600" marB="21600" anchor="ctr">
                    <a:solidFill>
                      <a:srgbClr val="D32F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坂本さん所有地（今回の取得対象外）：2355-3, 2356-1, 2369-1, 2372-1, 2374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4680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黄</a:t>
                      </a:r>
                    </a:p>
                  </a:txBody>
                  <a:tcPr marL="50400" marR="50400" marT="21600" marB="21600" anchor="ctr">
                    <a:solidFill>
                      <a:srgbClr val="F2C2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今後の確認・協議が必要な区域：北段（2356, 2357-3, 2359, 2360-1/2, 2361, 2361-1, 2362 ほか）、2369-4〜7、脇道南側（2373-1/2, 2378, 2378-3/5）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黄＋斜線</a:t>
                      </a:r>
                    </a:p>
                  </a:txBody>
                  <a:tcPr marL="50400" marR="50400" marT="21600" marB="21600" anchor="ctr">
                    <a:solidFill>
                      <a:srgbClr val="F7D7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坂本さん所有の可能性（地番判読不可）：2355-4, 2355-5, 2378-1, 2378-2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4680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グレー</a:t>
                      </a:r>
                    </a:p>
                  </a:txBody>
                  <a:tcPr marL="50400" marR="50400" marT="21600" marB="21600" anchor="ctr">
                    <a:solidFill>
                      <a:srgbClr val="BDBDB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その他・対象外：県道西側、東側斜面（土砂災害警戒区域の表示）、2365 ほか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968000" y="4356000"/>
            <a:ext cx="5220000" cy="2628000"/>
          </a:xfrm>
          <a:prstGeom prst="rect">
            <a:avLst/>
          </a:prstGeom>
          <a:solidFill>
            <a:srgbClr val="E8F0EC"/>
          </a:solidFill>
        </p:spPr>
        <p:txBody>
          <a:bodyPr wrap="square" lIns="90000" rIns="90000" tIns="54000" bIns="54000" anchor="t">
            <a:spAutoFit/>
          </a:bodyPr>
          <a:lstStyle/>
          <a:p>
            <a:pPr algn="l">
              <a:lnSpc>
                <a:spcPct val="134850"/>
              </a:lnSpc>
            </a:pPr>
            <a:r>
              <a:rPr sz="900" b="0">
                <a:solidFill>
                  <a:srgbClr val="1D2421"/>
                </a:solidFill>
                <a:latin typeface="Yu Gothic"/>
                <a:ea typeface="Yu Gothic"/>
              </a:rPr>
              <a:t>この図の読み方</a:t>
            </a:r>
          </a:p>
          <a:p>
            <a:pPr algn="l">
              <a:lnSpc>
                <a:spcPct val="134850"/>
              </a:lnSpc>
            </a:pPr>
            <a:r>
              <a:rPr sz="900" b="0">
                <a:solidFill>
                  <a:srgbClr val="1D2421"/>
                </a:solidFill>
                <a:latin typeface="Yu Gothic"/>
                <a:ea typeface="Yu Gothic"/>
              </a:rPr>
              <a:t>・会議では「緑だけを買う」のではなく、</a:t>
            </a:r>
            <a:r>
              <a:rPr sz="900" b="1">
                <a:solidFill>
                  <a:srgbClr val="1D2421"/>
                </a:solidFill>
                <a:latin typeface="Yu Gothic"/>
                <a:ea typeface="Yu Gothic"/>
              </a:rPr>
              <a:t>緑＋黄のうち坂本さん名義でない筆</a:t>
            </a:r>
            <a:r>
              <a:rPr sz="900" b="0">
                <a:solidFill>
                  <a:srgbClr val="1D2421"/>
                </a:solidFill>
                <a:latin typeface="Yu Gothic"/>
                <a:ea typeface="Yu Gothic"/>
              </a:rPr>
              <a:t>が取得検討の範囲になります。黄の所有者が分かるまで、取得範囲は確定しません。</a:t>
            </a:r>
          </a:p>
          <a:p>
            <a:pPr algn="l">
              <a:lnSpc>
                <a:spcPct val="134850"/>
              </a:lnSpc>
            </a:pPr>
            <a:r>
              <a:rPr sz="900" b="0">
                <a:solidFill>
                  <a:srgbClr val="1D2421"/>
                </a:solidFill>
                <a:latin typeface="Yu Gothic"/>
                <a:ea typeface="Yu Gothic"/>
              </a:rPr>
              <a:t>・坂本さん所有地（赤）は、県道と取得検討対象の</a:t>
            </a:r>
            <a:r>
              <a:rPr sz="900" b="1">
                <a:solidFill>
                  <a:srgbClr val="1D2421"/>
                </a:solidFill>
                <a:latin typeface="Yu Gothic"/>
                <a:ea typeface="Yu Gothic"/>
              </a:rPr>
              <a:t>間</a:t>
            </a:r>
            <a:r>
              <a:rPr sz="900" b="0">
                <a:solidFill>
                  <a:srgbClr val="1D2421"/>
                </a:solidFill>
                <a:latin typeface="Yu Gothic"/>
                <a:ea typeface="Yu Gothic"/>
              </a:rPr>
              <a:t>に位置します。このため、出入口・排水・境界の扱いに影響します。</a:t>
            </a:r>
          </a:p>
          <a:p>
            <a:pPr algn="l">
              <a:lnSpc>
                <a:spcPct val="134850"/>
              </a:lnSpc>
            </a:pPr>
            <a:r>
              <a:rPr sz="900" b="0">
                <a:solidFill>
                  <a:srgbClr val="1D2421"/>
                </a:solidFill>
                <a:latin typeface="Yu Gothic"/>
                <a:ea typeface="Yu Gothic"/>
              </a:rPr>
              <a:t>・区分線は図面からの手書きトレースによる概略です。境界・面積は未確定で、登記・測量で確定します。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64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05 土地取得対象図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44000" y="306000"/>
            <a:ext cx="2844000" cy="216000"/>
          </a:xfrm>
          <a:prstGeom prst="rect">
            <a:avLst/>
          </a:prstGeom>
          <a:solidFill>
            <a:srgbClr val="B3261E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800" b="1">
                <a:solidFill>
                  <a:srgbClr val="FFFFFF"/>
                </a:solidFill>
                <a:latin typeface="Yu Gothic"/>
                <a:ea typeface="Yu Gothic"/>
              </a:rPr>
              <a:t>第2版：坂本さん所有地を取得対象から除外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000" y="522000"/>
            <a:ext cx="9684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取得検討区域だけを表示（緑＋黄）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4000" y="7200000"/>
            <a:ext cx="79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土地取得・開発検討資料（第2版 2026年10月）｜協議用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8 / 26</a:t>
            </a:r>
          </a:p>
        </p:txBody>
      </p:sp>
      <p:pic>
        <p:nvPicPr>
          <p:cNvPr id="9" name="Picture 8" descr="M7b_取得検討区域のみ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482" y="1188000"/>
            <a:ext cx="4231035" cy="5868000"/>
          </a:xfrm>
          <a:prstGeom prst="rect">
            <a:avLst/>
          </a:prstGeom>
          <a:ln w="9525">
            <a:solidFill>
              <a:srgbClr val="D9DFDC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4968000" y="1188000"/>
            <a:ext cx="5220000" cy="2700000"/>
          </a:xfrm>
          <a:prstGeom prst="roundRect">
            <a:avLst>
              <a:gd name="adj" fmla="val 8000"/>
            </a:avLst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12000" y="1296000"/>
            <a:ext cx="493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050" b="1">
                <a:solidFill>
                  <a:srgbClr val="1F4D3A"/>
                </a:solidFill>
                <a:latin typeface="Yu Gothic"/>
                <a:ea typeface="Yu Gothic"/>
              </a:rPr>
              <a:t>取得検討区域の特徴（図上概略）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12000" y="1548000"/>
            <a:ext cx="4932000" cy="22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919" b="0">
                <a:solidFill>
                  <a:srgbClr val="1D2421"/>
                </a:solidFill>
                <a:latin typeface="Yu Gothic"/>
                <a:ea typeface="Yu Gothic"/>
              </a:rPr>
              <a:t>・北段（黄）：県道沿いの間口があり、東西幅は約45m前後（図上概略・縮尺は航空写真照合による推定）。北端と県道沿い西側の一部は坂本さん所有地またはその可能性。</a:t>
            </a:r>
          </a:p>
          <a:p>
            <a:pPr algn="l">
              <a:lnSpc>
                <a:spcPct val="130500"/>
              </a:lnSpc>
            </a:pPr>
            <a:r>
              <a:rPr sz="919" b="0">
                <a:solidFill>
                  <a:srgbClr val="1D2421"/>
                </a:solidFill>
                <a:latin typeface="Yu Gothic"/>
                <a:ea typeface="Yu Gothic"/>
              </a:rPr>
              <a:t>・中段東側（緑2368）：東西幅は約33m前後。</a:t>
            </a:r>
            <a:r>
              <a:rPr sz="919" b="1">
                <a:solidFill>
                  <a:srgbClr val="1D2421"/>
                </a:solidFill>
                <a:latin typeface="Yu Gothic"/>
                <a:ea typeface="Yu Gothic"/>
              </a:rPr>
              <a:t>県道に直接接していない</a:t>
            </a:r>
            <a:r>
              <a:rPr sz="919" b="0">
                <a:solidFill>
                  <a:srgbClr val="1D2421"/>
                </a:solidFill>
                <a:latin typeface="Yu Gothic"/>
                <a:ea typeface="Yu Gothic"/>
              </a:rPr>
              <a:t>（図面読取）。</a:t>
            </a:r>
          </a:p>
          <a:p>
            <a:pPr algn="l">
              <a:lnSpc>
                <a:spcPct val="130500"/>
              </a:lnSpc>
            </a:pPr>
            <a:r>
              <a:rPr sz="919" b="0">
                <a:solidFill>
                  <a:srgbClr val="1D2421"/>
                </a:solidFill>
                <a:latin typeface="Yu Gothic"/>
                <a:ea typeface="Yu Gothic"/>
              </a:rPr>
              <a:t>・2369-4（黄）：中段で県道に接する唯一の非坂本名義候補。間口は約15〜17m（図上概略）。</a:t>
            </a:r>
          </a:p>
          <a:p>
            <a:pPr algn="l">
              <a:lnSpc>
                <a:spcPct val="130500"/>
              </a:lnSpc>
            </a:pPr>
            <a:r>
              <a:rPr sz="919" b="0">
                <a:solidFill>
                  <a:srgbClr val="1D2421"/>
                </a:solidFill>
                <a:latin typeface="Yu Gothic"/>
                <a:ea typeface="Yu Gothic"/>
              </a:rPr>
              <a:t>・北段と中段の間には水路（流水あり・写真10）。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68000" y="4032000"/>
            <a:ext cx="5220000" cy="2952000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12000" y="4140000"/>
            <a:ext cx="493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050" b="1">
                <a:solidFill>
                  <a:srgbClr val="8A5A00"/>
                </a:solidFill>
                <a:latin typeface="Yu Gothic"/>
                <a:ea typeface="Yu Gothic"/>
              </a:rPr>
              <a:t>ここから言えること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12000" y="4392000"/>
            <a:ext cx="4932000" cy="2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960" b="0">
                <a:solidFill>
                  <a:srgbClr val="1D2421"/>
                </a:solidFill>
                <a:latin typeface="Yu Gothic"/>
                <a:ea typeface="Yu Gothic"/>
              </a:rPr>
              <a:t>1. 取得検討対象（緑）だけでは</a:t>
            </a:r>
            <a:r>
              <a:rPr sz="960" b="1">
                <a:solidFill>
                  <a:srgbClr val="1D2421"/>
                </a:solidFill>
                <a:latin typeface="Yu Gothic"/>
                <a:ea typeface="Yu Gothic"/>
              </a:rPr>
              <a:t>チップヤードは成立しにくい</a:t>
            </a:r>
            <a:r>
              <a:rPr sz="960" b="0">
                <a:solidFill>
                  <a:srgbClr val="1D2421"/>
                </a:solidFill>
                <a:latin typeface="Yu Gothic"/>
                <a:ea typeface="Yu Gothic"/>
              </a:rPr>
              <a:t>（接道なし・旋回困難の可能性）。</a:t>
            </a:r>
          </a:p>
          <a:p>
            <a:pPr algn="l">
              <a:lnSpc>
                <a:spcPct val="130500"/>
              </a:lnSpc>
            </a:pPr>
            <a:r>
              <a:rPr sz="960" b="0">
                <a:solidFill>
                  <a:srgbClr val="1D2421"/>
                </a:solidFill>
                <a:latin typeface="Yu Gothic"/>
                <a:ea typeface="Yu Gothic"/>
              </a:rPr>
              <a:t>2. 計画の成否は</a:t>
            </a:r>
            <a:r>
              <a:rPr sz="960" b="1">
                <a:solidFill>
                  <a:srgbClr val="1D2421"/>
                </a:solidFill>
                <a:latin typeface="Yu Gothic"/>
                <a:ea typeface="Yu Gothic"/>
              </a:rPr>
              <a:t>黄色区域の所有者</a:t>
            </a:r>
            <a:r>
              <a:rPr sz="960" b="0">
                <a:solidFill>
                  <a:srgbClr val="1D2421"/>
                </a:solidFill>
                <a:latin typeface="Yu Gothic"/>
                <a:ea typeface="Yu Gothic"/>
              </a:rPr>
              <a:t>で決まる。最優先は北段と2369-4〜7の登記確認。</a:t>
            </a:r>
          </a:p>
          <a:p>
            <a:pPr algn="l">
              <a:lnSpc>
                <a:spcPct val="130500"/>
              </a:lnSpc>
            </a:pPr>
            <a:r>
              <a:rPr sz="960" b="0">
                <a:solidFill>
                  <a:srgbClr val="1D2421"/>
                </a:solidFill>
                <a:latin typeface="Yu Gothic"/>
                <a:ea typeface="Yu Gothic"/>
              </a:rPr>
              <a:t>3. 寸法は図面写真からの概略で、誤差は±10%以上の可能性。設計には現況測量が必要。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64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06 現場写真の撮影位置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44000" y="306000"/>
            <a:ext cx="2844000" cy="216000"/>
          </a:xfrm>
          <a:prstGeom prst="rect">
            <a:avLst/>
          </a:prstGeom>
          <a:solidFill>
            <a:srgbClr val="B3261E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800" b="1">
                <a:solidFill>
                  <a:srgbClr val="FFFFFF"/>
                </a:solidFill>
                <a:latin typeface="Yu Gothic"/>
                <a:ea typeface="Yu Gothic"/>
              </a:rPr>
              <a:t>第2版：坂本さん所有地を取得対象から除外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000" y="522000"/>
            <a:ext cx="9684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撮影位置と取得区分（写真番号・位置・方向は第1版を維持）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4000" y="7200000"/>
            <a:ext cx="79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土地取得・開発検討資料（第2版 2026年10月）｜協議用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9 / 26</a:t>
            </a:r>
          </a:p>
        </p:txBody>
      </p:sp>
      <p:pic>
        <p:nvPicPr>
          <p:cNvPr id="9" name="Picture 8" descr="M8_撮影位置と取得区分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99" y="1326020"/>
            <a:ext cx="4032000" cy="5591958"/>
          </a:xfrm>
          <a:prstGeom prst="rect">
            <a:avLst/>
          </a:prstGeom>
          <a:ln w="9525">
            <a:solidFill>
              <a:srgbClr val="D9DFDC"/>
            </a:solidFill>
          </a:ln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752000" y="1188000"/>
          <a:ext cx="5436000" cy="57024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88000"/>
                <a:gridCol w="1440000"/>
                <a:gridCol w="3708000"/>
              </a:tblGrid>
              <a:tr h="356400">
                <a:tc>
                  <a:txBody>
                    <a:bodyPr wrap="square"/>
                    <a:lstStyle/>
                    <a:p>
                      <a:r>
                        <a:rPr sz="69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No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9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タイトル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9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写っている主な土地（取得区分）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</a:tr>
              <a:tr h="356400"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1</a:t>
                      </a:r>
                    </a:p>
                  </a:txBody>
                  <a:tcPr marL="50400" marR="50400" marT="21600" marB="21600" anchor="ctr">
                    <a:solidFill>
                      <a:srgbClr val="FFF6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県道（北側）から棚田と敷地奥を望む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2369-4〜7（要確認）が中心。右手前に2369-1（坂本さん所有地・対象外）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56400"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2</a:t>
                      </a:r>
                    </a:p>
                  </a:txBody>
                  <a:tcPr marL="50400" marR="50400" marT="21600" marB="21600" anchor="ctr"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県道沿い南西角（標識付近）から敷地を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手前の下段田面は主に2372-1・2369-1（坂本さん所有地・対象外）。奥の段々に2374（対象外）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56400"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3</a:t>
                      </a:r>
                    </a:p>
                  </a:txBody>
                  <a:tcPr marL="50400" marR="50400" marT="21600" marB="21600" anchor="ctr"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脇道から県道・対面ヤード方向を見る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右の田面は2372-1（坂本さん所有地・対象外）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56400"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4</a:t>
                      </a:r>
                    </a:p>
                  </a:txBody>
                  <a:tcPr marL="50400" marR="50400" marT="21600" marB="21600" anchor="ctr"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県道×脇道の交差部から敷地全景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手前〜中央は2372-1・2369-1、右の石積みは2374（いずれも坂本さん所有地・対象外）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56400"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5</a:t>
                      </a:r>
                    </a:p>
                  </a:txBody>
                  <a:tcPr marL="50400" marR="50400" marT="21600" marB="21600" anchor="ctr"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脇道沿い：石積み段差と投棄物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2372-1・2374（坂本さん所有地・対象外）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56400"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6</a:t>
                      </a:r>
                    </a:p>
                  </a:txBody>
                  <a:tcPr marL="50400" marR="50400" marT="21600" marB="21600" anchor="ctr"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石積みの段差（約1.5〜2m程度に見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石積みの上段は2374（坂本さん所有地・対象外）。奥に東側住宅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56400"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7</a:t>
                      </a:r>
                    </a:p>
                  </a:txBody>
                  <a:tcPr marL="50400" marR="50400" marT="21600" marB="21600" anchor="ctr"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下段田面を北向きに見る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手前は2369-1・2372-1（坂本さん所有地・対象外）。奥に2369-4〜7（要確認）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56400"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8</a:t>
                      </a:r>
                    </a:p>
                  </a:txBody>
                  <a:tcPr marL="50400" marR="50400" marT="21600" marB="21600" anchor="ctr"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脇道から北向きに敷地全景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手前は2374・2372-1（対象外）。右奥の段々に2368（取得検討対象）を含む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56400"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9</a:t>
                      </a:r>
                    </a:p>
                  </a:txBody>
                  <a:tcPr marL="50400" marR="50400" marT="21600" marB="21600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脇道東端から北西に敷地全景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手前は2374（対象外）、中景の段々は2368-2・2368-3（取得検討対象）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56400"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10</a:t>
                      </a:r>
                    </a:p>
                  </a:txBody>
                  <a:tcPr marL="50400" marR="50400" marT="21600" marB="21600" anchor="ctr">
                    <a:solidFill>
                      <a:srgbClr val="FFF6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水路沿いに西（県道方向）を見る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水路沿い。左は北段（要確認）、右は2369-5〜7（要確認）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56400"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11</a:t>
                      </a:r>
                    </a:p>
                  </a:txBody>
                  <a:tcPr marL="50400" marR="50400" marT="21600" marB="21600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上段から南西を俯瞰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足元は2368-1付近（取得検討対象）。奥の県道沿いは2369-1（対象外）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56400"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12</a:t>
                      </a:r>
                    </a:p>
                  </a:txBody>
                  <a:tcPr marL="50400" marR="50400" marT="21600" marB="21600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上段から西（県道・対面ヤード）を俯瞰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足元は2368-1〜2369-7付近。県道沿いの下段は2369-1（対象外）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56400"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13</a:t>
                      </a:r>
                    </a:p>
                  </a:txBody>
                  <a:tcPr marL="50400" marR="50400" marT="21600" marB="21600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上段（東端）から南向き：住宅・重機方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2368-2・2368-3（取得検討対象）から南を見る。奥の住宅手前は2374（対象外）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56400"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14</a:t>
                      </a:r>
                    </a:p>
                  </a:txBody>
                  <a:tcPr marL="50400" marR="50400" marT="21600" marB="21600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上段から南向き：住宅・倉庫・県道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2368（取得検討対象）から南を見る。中景の段は2374（対象外）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56400"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15</a:t>
                      </a:r>
                    </a:p>
                  </a:txBody>
                  <a:tcPr marL="50400" marR="50400" marT="21600" marB="21600" anchor="ctr">
                    <a:solidFill>
                      <a:srgbClr val="FFF6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脇道東端から南西：脇道南側区画（重機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9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脇道南側の2373・2378区画（要確認。2378-1/2は坂本さん所有の可能性）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64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07 現場全景パノラマ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44000" y="306000"/>
            <a:ext cx="2844000" cy="216000"/>
          </a:xfrm>
          <a:prstGeom prst="rect">
            <a:avLst/>
          </a:prstGeom>
          <a:solidFill>
            <a:srgbClr val="B3261E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800" b="1">
                <a:solidFill>
                  <a:srgbClr val="FFFFFF"/>
                </a:solidFill>
                <a:latin typeface="Yu Gothic"/>
                <a:ea typeface="Yu Gothic"/>
              </a:rPr>
              <a:t>第2版：坂本さん所有地を取得対象から除外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000" y="522000"/>
            <a:ext cx="9684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現場全景と取得範囲（写真本体は無加工・下帯で区分を表示）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4000" y="7200000"/>
            <a:ext cx="79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土地取得・開発検討資料（第2版 2026年10月）｜協議用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10 / 26</a:t>
            </a:r>
          </a:p>
        </p:txBody>
      </p:sp>
      <p:pic>
        <p:nvPicPr>
          <p:cNvPr id="9" name="Picture 8" descr="PANO1_南西角から敷地全景_取得区分表示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285" y="1188000"/>
            <a:ext cx="3903428" cy="3312000"/>
          </a:xfrm>
          <a:prstGeom prst="rect">
            <a:avLst/>
          </a:prstGeom>
        </p:spPr>
      </p:pic>
      <p:pic>
        <p:nvPicPr>
          <p:cNvPr id="10" name="Picture 9" descr="PANO2_脇道から北向き全景_取得区分表示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870" y="1188000"/>
            <a:ext cx="2230258" cy="3312000"/>
          </a:xfrm>
          <a:prstGeom prst="rect">
            <a:avLst/>
          </a:prstGeom>
        </p:spPr>
      </p:pic>
      <p:pic>
        <p:nvPicPr>
          <p:cNvPr id="11" name="Picture 10" descr="PANO3_上段から南西俯瞰_取得区分表示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4354" y="4608000"/>
            <a:ext cx="4399291" cy="237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28000" y="4608000"/>
            <a:ext cx="3060000" cy="2376000"/>
          </a:xfrm>
          <a:prstGeom prst="rect">
            <a:avLst/>
          </a:prstGeom>
          <a:solidFill>
            <a:srgbClr val="F4F7F5"/>
          </a:solidFill>
        </p:spPr>
        <p:txBody>
          <a:bodyPr wrap="square" lIns="90000" rIns="90000" tIns="54000" bIns="5400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840" b="0">
                <a:solidFill>
                  <a:srgbClr val="1D2421"/>
                </a:solidFill>
                <a:latin typeface="Yu Gothic"/>
                <a:ea typeface="Yu Gothic"/>
              </a:rPr>
              <a:t>ポイント</a:t>
            </a:r>
          </a:p>
          <a:p>
            <a:pPr algn="l">
              <a:lnSpc>
                <a:spcPct val="130500"/>
              </a:lnSpc>
            </a:pPr>
            <a:r>
              <a:rPr sz="840" b="0">
                <a:solidFill>
                  <a:srgbClr val="1D2421"/>
                </a:solidFill>
                <a:latin typeface="Yu Gothic"/>
                <a:ea typeface="Yu Gothic"/>
              </a:rPr>
              <a:t>・パノラマ1・2に写る平坦な田面の大部分は</a:t>
            </a:r>
            <a:r>
              <a:rPr sz="840" b="1">
                <a:solidFill>
                  <a:srgbClr val="1D2421"/>
                </a:solidFill>
                <a:latin typeface="Yu Gothic"/>
                <a:ea typeface="Yu Gothic"/>
              </a:rPr>
              <a:t>坂本さん所有地（対象外）</a:t>
            </a:r>
            <a:r>
              <a:rPr sz="840" b="0">
                <a:solidFill>
                  <a:srgbClr val="1D2421"/>
                </a:solidFill>
                <a:latin typeface="Yu Gothic"/>
                <a:ea typeface="Yu Gothic"/>
              </a:rPr>
              <a:t>です。周辺状況の把握のため掲載を継続しています。</a:t>
            </a:r>
          </a:p>
          <a:p>
            <a:pPr algn="l">
              <a:lnSpc>
                <a:spcPct val="130500"/>
              </a:lnSpc>
            </a:pPr>
            <a:r>
              <a:rPr sz="840" b="0">
                <a:solidFill>
                  <a:srgbClr val="1D2421"/>
                </a:solidFill>
                <a:latin typeface="Yu Gothic"/>
                <a:ea typeface="Yu Gothic"/>
              </a:rPr>
              <a:t>・パノラマ3は取得検討対象（2368）付近から県道方向を見た景観です。</a:t>
            </a:r>
          </a:p>
          <a:p>
            <a:pPr algn="l">
              <a:lnSpc>
                <a:spcPct val="130500"/>
              </a:lnSpc>
            </a:pPr>
            <a:r>
              <a:rPr sz="840" b="0">
                <a:solidFill>
                  <a:srgbClr val="1D2421"/>
                </a:solidFill>
                <a:latin typeface="Yu Gothic"/>
                <a:ea typeface="Yu Gothic"/>
              </a:rPr>
              <a:t>・合成は自動処理のため継ぎ目に歪みがあり得ます。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64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08 敷地への進入道路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44000" y="306000"/>
            <a:ext cx="2844000" cy="216000"/>
          </a:xfrm>
          <a:prstGeom prst="rect">
            <a:avLst/>
          </a:prstGeom>
          <a:solidFill>
            <a:srgbClr val="B3261E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800" b="1">
                <a:solidFill>
                  <a:srgbClr val="FFFFFF"/>
                </a:solidFill>
                <a:latin typeface="Yu Gothic"/>
                <a:ea typeface="Yu Gothic"/>
              </a:rPr>
              <a:t>第2版：坂本さん所有地を取得対象から除外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000" y="522000"/>
            <a:ext cx="9684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大型トラックの進入経路（変更後）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4000" y="7200000"/>
            <a:ext cx="79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土地取得・開発検討資料（第2版 2026年10月）｜協議用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11 / 26</a:t>
            </a:r>
          </a:p>
        </p:txBody>
      </p:sp>
      <p:pic>
        <p:nvPicPr>
          <p:cNvPr id="9" name="Picture 8" descr="P02.jpg"/>
          <p:cNvPicPr>
            <a:picLocks noChangeAspect="1"/>
          </p:cNvPicPr>
          <p:nvPr/>
        </p:nvPicPr>
        <p:blipFill>
          <a:blip r:embed="rId2"/>
          <a:srcRect t="21731" b="21731"/>
          <a:stretch>
            <a:fillRect/>
          </a:stretch>
        </p:blipFill>
        <p:spPr>
          <a:xfrm>
            <a:off x="504000" y="1188000"/>
            <a:ext cx="2340000" cy="1764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00" y="1260000"/>
            <a:ext cx="324000" cy="234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" y="1267200"/>
            <a:ext cx="32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000" y="2736000"/>
            <a:ext cx="2340000" cy="216000"/>
          </a:xfrm>
          <a:prstGeom prst="rect">
            <a:avLst/>
          </a:prstGeom>
          <a:solidFill>
            <a:srgbClr val="C62828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800" b="1">
                <a:solidFill>
                  <a:srgbClr val="FFFFFF"/>
                </a:solidFill>
                <a:latin typeface="Yu Gothic"/>
                <a:ea typeface="Yu Gothic"/>
              </a:rPr>
              <a:t>対象外（坂本さん所有地）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000" y="2988000"/>
            <a:ext cx="234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100"/>
              </a:lnSpc>
            </a:pPr>
            <a:r>
              <a:rPr sz="800" b="1">
                <a:solidFill>
                  <a:srgbClr val="1D2421"/>
                </a:solidFill>
                <a:latin typeface="Yu Gothic"/>
                <a:ea typeface="Yu Gothic"/>
              </a:rPr>
              <a:t>写真2</a:t>
            </a:r>
            <a:r>
              <a:rPr sz="800" b="0">
                <a:solidFill>
                  <a:srgbClr val="1D2421"/>
                </a:solidFill>
                <a:latin typeface="Yu Gothic"/>
                <a:ea typeface="Yu Gothic"/>
              </a:rPr>
              <a:t> 県道沿い南西角（標識付近）から敷地を見る（方向 約30°・推定）</a:t>
            </a:r>
          </a:p>
        </p:txBody>
      </p:sp>
      <p:pic>
        <p:nvPicPr>
          <p:cNvPr id="14" name="Picture 13" descr="P04.jpg"/>
          <p:cNvPicPr>
            <a:picLocks noChangeAspect="1"/>
          </p:cNvPicPr>
          <p:nvPr/>
        </p:nvPicPr>
        <p:blipFill>
          <a:blip r:embed="rId3"/>
          <a:srcRect l="255" r="255"/>
          <a:stretch>
            <a:fillRect/>
          </a:stretch>
        </p:blipFill>
        <p:spPr>
          <a:xfrm>
            <a:off x="2952000" y="1188000"/>
            <a:ext cx="2340000" cy="17640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024000" y="1260000"/>
            <a:ext cx="324000" cy="234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24000" y="1267200"/>
            <a:ext cx="32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2000" y="2736000"/>
            <a:ext cx="2340000" cy="216000"/>
          </a:xfrm>
          <a:prstGeom prst="rect">
            <a:avLst/>
          </a:prstGeom>
          <a:solidFill>
            <a:srgbClr val="C62828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800" b="1">
                <a:solidFill>
                  <a:srgbClr val="FFFFFF"/>
                </a:solidFill>
                <a:latin typeface="Yu Gothic"/>
                <a:ea typeface="Yu Gothic"/>
              </a:rPr>
              <a:t>対象外（坂本さん所有地）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2000" y="2988000"/>
            <a:ext cx="234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100"/>
              </a:lnSpc>
            </a:pPr>
            <a:r>
              <a:rPr sz="800" b="1">
                <a:solidFill>
                  <a:srgbClr val="1D2421"/>
                </a:solidFill>
                <a:latin typeface="Yu Gothic"/>
                <a:ea typeface="Yu Gothic"/>
              </a:rPr>
              <a:t>写真4</a:t>
            </a:r>
            <a:r>
              <a:rPr sz="800" b="0">
                <a:solidFill>
                  <a:srgbClr val="1D2421"/>
                </a:solidFill>
                <a:latin typeface="Yu Gothic"/>
                <a:ea typeface="Yu Gothic"/>
              </a:rPr>
              <a:t> 県道×脇道の交差部から敷地全景（方向 約40°・推定）</a:t>
            </a:r>
          </a:p>
        </p:txBody>
      </p:sp>
      <p:pic>
        <p:nvPicPr>
          <p:cNvPr id="19" name="Picture 18" descr="P01.jpg"/>
          <p:cNvPicPr>
            <a:picLocks noChangeAspect="1"/>
          </p:cNvPicPr>
          <p:nvPr/>
        </p:nvPicPr>
        <p:blipFill>
          <a:blip r:embed="rId4"/>
          <a:srcRect t="21731" b="21731"/>
          <a:stretch>
            <a:fillRect/>
          </a:stretch>
        </p:blipFill>
        <p:spPr>
          <a:xfrm>
            <a:off x="5400000" y="1188000"/>
            <a:ext cx="2340000" cy="17640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5472000" y="1260000"/>
            <a:ext cx="324000" cy="234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2000" y="1267200"/>
            <a:ext cx="32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0000" y="2736000"/>
            <a:ext cx="2340000" cy="216000"/>
          </a:xfrm>
          <a:prstGeom prst="rect">
            <a:avLst/>
          </a:prstGeom>
          <a:solidFill>
            <a:srgbClr val="8A6D00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800" b="1">
                <a:solidFill>
                  <a:srgbClr val="FFFFFF"/>
                </a:solidFill>
                <a:latin typeface="Yu Gothic"/>
                <a:ea typeface="Yu Gothic"/>
              </a:rPr>
              <a:t>要確認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0" y="2988000"/>
            <a:ext cx="234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100"/>
              </a:lnSpc>
            </a:pPr>
            <a:r>
              <a:rPr sz="800" b="1">
                <a:solidFill>
                  <a:srgbClr val="1D2421"/>
                </a:solidFill>
                <a:latin typeface="Yu Gothic"/>
                <a:ea typeface="Yu Gothic"/>
              </a:rPr>
              <a:t>写真1</a:t>
            </a:r>
            <a:r>
              <a:rPr sz="800" b="0">
                <a:solidFill>
                  <a:srgbClr val="1D2421"/>
                </a:solidFill>
                <a:latin typeface="Yu Gothic"/>
                <a:ea typeface="Yu Gothic"/>
              </a:rPr>
              <a:t> 県道（北側）から棚田と敷地奥を望む（方向 約125°・推定）</a:t>
            </a:r>
          </a:p>
        </p:txBody>
      </p:sp>
      <p:pic>
        <p:nvPicPr>
          <p:cNvPr id="24" name="Picture 23" descr="P12.jpg"/>
          <p:cNvPicPr>
            <a:picLocks noChangeAspect="1"/>
          </p:cNvPicPr>
          <p:nvPr/>
        </p:nvPicPr>
        <p:blipFill>
          <a:blip r:embed="rId5"/>
          <a:srcRect l="255" r="255"/>
          <a:stretch>
            <a:fillRect/>
          </a:stretch>
        </p:blipFill>
        <p:spPr>
          <a:xfrm>
            <a:off x="7848000" y="1188000"/>
            <a:ext cx="2340000" cy="176400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7920000" y="1260000"/>
            <a:ext cx="324000" cy="234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0000" y="1267200"/>
            <a:ext cx="32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48000" y="2736000"/>
            <a:ext cx="2340000" cy="216000"/>
          </a:xfrm>
          <a:prstGeom prst="rect">
            <a:avLst/>
          </a:prstGeom>
          <a:solidFill>
            <a:srgbClr val="2E7D32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800" b="1">
                <a:solidFill>
                  <a:srgbClr val="FFFFFF"/>
                </a:solidFill>
                <a:latin typeface="Yu Gothic"/>
                <a:ea typeface="Yu Gothic"/>
              </a:rPr>
              <a:t>取得検討対象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8000" y="2988000"/>
            <a:ext cx="234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100"/>
              </a:lnSpc>
            </a:pPr>
            <a:r>
              <a:rPr sz="800" b="1">
                <a:solidFill>
                  <a:srgbClr val="1D2421"/>
                </a:solidFill>
                <a:latin typeface="Yu Gothic"/>
                <a:ea typeface="Yu Gothic"/>
              </a:rPr>
              <a:t>写真12</a:t>
            </a:r>
            <a:r>
              <a:rPr sz="800" b="0">
                <a:solidFill>
                  <a:srgbClr val="1D2421"/>
                </a:solidFill>
                <a:latin typeface="Yu Gothic"/>
                <a:ea typeface="Yu Gothic"/>
              </a:rPr>
              <a:t> 上段から西（県道・対面ヤード）を俯瞰（方向 約250°・推定）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04000" y="3420000"/>
          <a:ext cx="9684000" cy="26784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512000"/>
                <a:gridCol w="3960000"/>
                <a:gridCol w="4212000"/>
              </a:tblGrid>
              <a:tr h="446400">
                <a:tc>
                  <a:txBody>
                    <a:bodyPr wrap="square"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進入経路の候補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内容（図面読取・写真）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課題・確認事項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</a:tr>
              <a:tr h="4464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第1版：交差部付近（写真2・4）</a:t>
                      </a:r>
                    </a:p>
                  </a:txBody>
                  <a:tcPr marL="50400" marR="50400" marT="21600" marB="21600" anchor="ctr"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坂本さん所有地（2372-1・2369-1）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1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使用しない</a:t>
                      </a:r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（今回の取得対象外）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4464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新1・2案：北段の県道沿い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県道沿いに間口あり（2357-3・2359付近）。写真1の北側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北段の所有者確認、県道乗入れ（道路法24条）、上空電線、2359の既存工作物表示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4464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新3案：2369-4（県道沿い）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間口 約15〜17m（図上概略）。坂本さん所有地2369-1の北隣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所有者確認。取得できない場合は県道への進入路がない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4464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脇道（南側）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生活道路で幅員が狭いとみられる。2374（坂本さん所有地）に接する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大型車は不適の可能性。取得検討対象から脇道へは東側の白地（里道か）のみ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4464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坂本さん所有地の通行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売却しない意向（現時点）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通行承諾・借地の可能性は未確認（相談するかは社内判断）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64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09 敷地内部の状況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44000" y="306000"/>
            <a:ext cx="2844000" cy="216000"/>
          </a:xfrm>
          <a:prstGeom prst="rect">
            <a:avLst/>
          </a:prstGeom>
          <a:solidFill>
            <a:srgbClr val="B3261E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800" b="1">
                <a:solidFill>
                  <a:srgbClr val="FFFFFF"/>
                </a:solidFill>
                <a:latin typeface="Yu Gothic"/>
                <a:ea typeface="Yu Gothic"/>
              </a:rPr>
              <a:t>第2版：坂本さん所有地を取得対象から除外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000" y="522000"/>
            <a:ext cx="9684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取得検討区域の現況（中段東側・水路沿い）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4000" y="7200000"/>
            <a:ext cx="79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土地取得・開発検討資料（第2版 2026年10月）｜協議用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12 / 26</a:t>
            </a:r>
          </a:p>
        </p:txBody>
      </p:sp>
      <p:pic>
        <p:nvPicPr>
          <p:cNvPr id="9" name="Picture 8" descr="P11.jpg"/>
          <p:cNvPicPr>
            <a:picLocks noChangeAspect="1"/>
          </p:cNvPicPr>
          <p:nvPr/>
        </p:nvPicPr>
        <p:blipFill>
          <a:blip r:embed="rId2"/>
          <a:srcRect l="255" r="255"/>
          <a:stretch>
            <a:fillRect/>
          </a:stretch>
        </p:blipFill>
        <p:spPr>
          <a:xfrm>
            <a:off x="504000" y="1188000"/>
            <a:ext cx="2340000" cy="1764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00" y="1260000"/>
            <a:ext cx="324000" cy="234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" y="1267200"/>
            <a:ext cx="32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000" y="2736000"/>
            <a:ext cx="2340000" cy="216000"/>
          </a:xfrm>
          <a:prstGeom prst="rect">
            <a:avLst/>
          </a:prstGeom>
          <a:solidFill>
            <a:srgbClr val="2E7D32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800" b="1">
                <a:solidFill>
                  <a:srgbClr val="FFFFFF"/>
                </a:solidFill>
                <a:latin typeface="Yu Gothic"/>
                <a:ea typeface="Yu Gothic"/>
              </a:rPr>
              <a:t>取得検討対象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000" y="2988000"/>
            <a:ext cx="234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100"/>
              </a:lnSpc>
            </a:pPr>
            <a:r>
              <a:rPr sz="800" b="1">
                <a:solidFill>
                  <a:srgbClr val="1D2421"/>
                </a:solidFill>
                <a:latin typeface="Yu Gothic"/>
                <a:ea typeface="Yu Gothic"/>
              </a:rPr>
              <a:t>写真11</a:t>
            </a:r>
            <a:r>
              <a:rPr sz="800" b="0">
                <a:solidFill>
                  <a:srgbClr val="1D2421"/>
                </a:solidFill>
                <a:latin typeface="Yu Gothic"/>
                <a:ea typeface="Yu Gothic"/>
              </a:rPr>
              <a:t> 上段から南西を俯瞰（方向 約220°・推定）</a:t>
            </a:r>
          </a:p>
        </p:txBody>
      </p:sp>
      <p:pic>
        <p:nvPicPr>
          <p:cNvPr id="14" name="Picture 13" descr="P13.jpg"/>
          <p:cNvPicPr>
            <a:picLocks noChangeAspect="1"/>
          </p:cNvPicPr>
          <p:nvPr/>
        </p:nvPicPr>
        <p:blipFill>
          <a:blip r:embed="rId3"/>
          <a:srcRect t="21731" b="21731"/>
          <a:stretch>
            <a:fillRect/>
          </a:stretch>
        </p:blipFill>
        <p:spPr>
          <a:xfrm>
            <a:off x="2952000" y="1188000"/>
            <a:ext cx="2340000" cy="17640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024000" y="1260000"/>
            <a:ext cx="324000" cy="234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24000" y="1267200"/>
            <a:ext cx="32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2000" y="2736000"/>
            <a:ext cx="2340000" cy="216000"/>
          </a:xfrm>
          <a:prstGeom prst="rect">
            <a:avLst/>
          </a:prstGeom>
          <a:solidFill>
            <a:srgbClr val="2E7D32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800" b="1">
                <a:solidFill>
                  <a:srgbClr val="FFFFFF"/>
                </a:solidFill>
                <a:latin typeface="Yu Gothic"/>
                <a:ea typeface="Yu Gothic"/>
              </a:rPr>
              <a:t>取得検討対象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2000" y="2988000"/>
            <a:ext cx="234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100"/>
              </a:lnSpc>
            </a:pPr>
            <a:r>
              <a:rPr sz="800" b="1">
                <a:solidFill>
                  <a:srgbClr val="1D2421"/>
                </a:solidFill>
                <a:latin typeface="Yu Gothic"/>
                <a:ea typeface="Yu Gothic"/>
              </a:rPr>
              <a:t>写真13</a:t>
            </a:r>
            <a:r>
              <a:rPr sz="800" b="0">
                <a:solidFill>
                  <a:srgbClr val="1D2421"/>
                </a:solidFill>
                <a:latin typeface="Yu Gothic"/>
                <a:ea typeface="Yu Gothic"/>
              </a:rPr>
              <a:t> 上段（東端）から南向き：住宅・重機方向（方向 約175°・推定）</a:t>
            </a:r>
          </a:p>
        </p:txBody>
      </p:sp>
      <p:pic>
        <p:nvPicPr>
          <p:cNvPr id="19" name="Picture 18" descr="P14.jpg"/>
          <p:cNvPicPr>
            <a:picLocks noChangeAspect="1"/>
          </p:cNvPicPr>
          <p:nvPr/>
        </p:nvPicPr>
        <p:blipFill>
          <a:blip r:embed="rId4"/>
          <a:srcRect t="21731" b="21731"/>
          <a:stretch>
            <a:fillRect/>
          </a:stretch>
        </p:blipFill>
        <p:spPr>
          <a:xfrm>
            <a:off x="5400000" y="1188000"/>
            <a:ext cx="2340000" cy="17640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5472000" y="1260000"/>
            <a:ext cx="324000" cy="234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2000" y="1267200"/>
            <a:ext cx="32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0000" y="2736000"/>
            <a:ext cx="2340000" cy="216000"/>
          </a:xfrm>
          <a:prstGeom prst="rect">
            <a:avLst/>
          </a:prstGeom>
          <a:solidFill>
            <a:srgbClr val="2E7D32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800" b="1">
                <a:solidFill>
                  <a:srgbClr val="FFFFFF"/>
                </a:solidFill>
                <a:latin typeface="Yu Gothic"/>
                <a:ea typeface="Yu Gothic"/>
              </a:rPr>
              <a:t>取得検討対象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0" y="2988000"/>
            <a:ext cx="234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100"/>
              </a:lnSpc>
            </a:pPr>
            <a:r>
              <a:rPr sz="800" b="1">
                <a:solidFill>
                  <a:srgbClr val="1D2421"/>
                </a:solidFill>
                <a:latin typeface="Yu Gothic"/>
                <a:ea typeface="Yu Gothic"/>
              </a:rPr>
              <a:t>写真14</a:t>
            </a:r>
            <a:r>
              <a:rPr sz="800" b="0">
                <a:solidFill>
                  <a:srgbClr val="1D2421"/>
                </a:solidFill>
                <a:latin typeface="Yu Gothic"/>
                <a:ea typeface="Yu Gothic"/>
              </a:rPr>
              <a:t> 上段から南向き：住宅・倉庫・県道（方向 約185°・推定）</a:t>
            </a:r>
          </a:p>
        </p:txBody>
      </p:sp>
      <p:pic>
        <p:nvPicPr>
          <p:cNvPr id="24" name="Picture 23" descr="P10.jpg"/>
          <p:cNvPicPr>
            <a:picLocks noChangeAspect="1"/>
          </p:cNvPicPr>
          <p:nvPr/>
        </p:nvPicPr>
        <p:blipFill>
          <a:blip r:embed="rId5"/>
          <a:srcRect l="255" r="255"/>
          <a:stretch>
            <a:fillRect/>
          </a:stretch>
        </p:blipFill>
        <p:spPr>
          <a:xfrm>
            <a:off x="7848000" y="1188000"/>
            <a:ext cx="2340000" cy="176400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7920000" y="1260000"/>
            <a:ext cx="324000" cy="234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0000" y="1267200"/>
            <a:ext cx="32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48000" y="2736000"/>
            <a:ext cx="2340000" cy="216000"/>
          </a:xfrm>
          <a:prstGeom prst="rect">
            <a:avLst/>
          </a:prstGeom>
          <a:solidFill>
            <a:srgbClr val="8A6D00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800" b="1">
                <a:solidFill>
                  <a:srgbClr val="FFFFFF"/>
                </a:solidFill>
                <a:latin typeface="Yu Gothic"/>
                <a:ea typeface="Yu Gothic"/>
              </a:rPr>
              <a:t>要確認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8000" y="2988000"/>
            <a:ext cx="234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100"/>
              </a:lnSpc>
            </a:pPr>
            <a:r>
              <a:rPr sz="800" b="1">
                <a:solidFill>
                  <a:srgbClr val="1D2421"/>
                </a:solidFill>
                <a:latin typeface="Yu Gothic"/>
                <a:ea typeface="Yu Gothic"/>
              </a:rPr>
              <a:t>写真10</a:t>
            </a:r>
            <a:r>
              <a:rPr sz="800" b="0">
                <a:solidFill>
                  <a:srgbClr val="1D2421"/>
                </a:solidFill>
                <a:latin typeface="Yu Gothic"/>
                <a:ea typeface="Yu Gothic"/>
              </a:rPr>
              <a:t> 水路沿いに西（県道方向）を見る（方向 約230°・推定）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4000" y="3420000"/>
            <a:ext cx="4752000" cy="3528000"/>
          </a:xfrm>
          <a:prstGeom prst="roundRect">
            <a:avLst>
              <a:gd name="adj" fmla="val 8000"/>
            </a:avLst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8000" y="3528000"/>
            <a:ext cx="446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050" b="1">
                <a:solidFill>
                  <a:srgbClr val="1F4D3A"/>
                </a:solidFill>
                <a:latin typeface="Yu Gothic"/>
                <a:ea typeface="Yu Gothic"/>
              </a:rPr>
              <a:t>現況（写真から確認できる事実）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000" y="3780000"/>
            <a:ext cx="4464000" cy="30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940" b="0">
                <a:solidFill>
                  <a:srgbClr val="1D2421"/>
                </a:solidFill>
                <a:latin typeface="Yu Gothic"/>
                <a:ea typeface="Yu Gothic"/>
              </a:rPr>
              <a:t>・取得検討対象（2368）付近は棚田の上段で、刈払い後の枝・切株・転石が残る（写真11〜14）。</a:t>
            </a:r>
          </a:p>
          <a:p>
            <a:pPr algn="l">
              <a:lnSpc>
                <a:spcPct val="130500"/>
              </a:lnSpc>
            </a:pPr>
            <a:r>
              <a:rPr sz="940" b="0">
                <a:solidFill>
                  <a:srgbClr val="1D2421"/>
                </a:solidFill>
                <a:latin typeface="Yu Gothic"/>
                <a:ea typeface="Yu Gothic"/>
              </a:rPr>
              <a:t>・南側の段（2374）と西側の下段（2369-1）は坂本さん所有地で、取得検討対象より低い。</a:t>
            </a:r>
          </a:p>
          <a:p>
            <a:pPr algn="l">
              <a:lnSpc>
                <a:spcPct val="130500"/>
              </a:lnSpc>
            </a:pPr>
            <a:r>
              <a:rPr sz="940" b="0">
                <a:solidFill>
                  <a:srgbClr val="1D2421"/>
                </a:solidFill>
                <a:latin typeface="Yu Gothic"/>
                <a:ea typeface="Yu Gothic"/>
              </a:rPr>
              <a:t>・北側の水路には流水あり（写真10）。北段との間を区切る。</a:t>
            </a:r>
          </a:p>
          <a:p>
            <a:pPr algn="l">
              <a:lnSpc>
                <a:spcPct val="130500"/>
              </a:lnSpc>
            </a:pPr>
            <a:r>
              <a:rPr sz="940" b="0">
                <a:solidFill>
                  <a:srgbClr val="1D2421"/>
                </a:solidFill>
                <a:latin typeface="Yu Gothic"/>
                <a:ea typeface="Yu Gothic"/>
              </a:rPr>
              <a:t>・標高（地理院）：中段東側 約400〜401m、下段 約398m、脇道東端 約403m（概略）。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36000" y="3420000"/>
            <a:ext cx="4752000" cy="3528000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80000" y="3528000"/>
            <a:ext cx="446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050" b="1">
                <a:solidFill>
                  <a:srgbClr val="8A5A00"/>
                </a:solidFill>
                <a:latin typeface="Yu Gothic"/>
                <a:ea typeface="Yu Gothic"/>
              </a:rPr>
              <a:t>造成で検討すべきこと（変更後）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80000" y="3780000"/>
            <a:ext cx="4464000" cy="30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940" b="0">
                <a:solidFill>
                  <a:srgbClr val="1D2421"/>
                </a:solidFill>
                <a:latin typeface="Yu Gothic"/>
                <a:ea typeface="Yu Gothic"/>
              </a:rPr>
              <a:t>・坂本さん所有地との境界に段差（石積み）が残る → </a:t>
            </a:r>
            <a:r>
              <a:rPr sz="940" b="1">
                <a:solidFill>
                  <a:srgbClr val="1D2421"/>
                </a:solidFill>
                <a:latin typeface="Yu Gothic"/>
                <a:ea typeface="Yu Gothic"/>
              </a:rPr>
              <a:t>境界部の擁壁・法面を自社地内で処理</a:t>
            </a:r>
            <a:r>
              <a:rPr sz="940" b="0">
                <a:solidFill>
                  <a:srgbClr val="1D2421"/>
                </a:solidFill>
                <a:latin typeface="Yu Gothic"/>
                <a:ea typeface="Yu Gothic"/>
              </a:rPr>
              <a:t>する必要。</a:t>
            </a:r>
          </a:p>
          <a:p>
            <a:pPr algn="l">
              <a:lnSpc>
                <a:spcPct val="130500"/>
              </a:lnSpc>
            </a:pPr>
            <a:r>
              <a:rPr sz="940" b="0">
                <a:solidFill>
                  <a:srgbClr val="1D2421"/>
                </a:solidFill>
                <a:latin typeface="Yu Gothic"/>
                <a:ea typeface="Yu Gothic"/>
              </a:rPr>
              <a:t>・平坦な下段が使えないため、上段の切盛土で平場をつくる量が増える可能性。</a:t>
            </a:r>
          </a:p>
          <a:p>
            <a:pPr algn="l">
              <a:lnSpc>
                <a:spcPct val="130500"/>
              </a:lnSpc>
            </a:pPr>
            <a:r>
              <a:rPr sz="940" b="0">
                <a:solidFill>
                  <a:srgbClr val="1D2421"/>
                </a:solidFill>
                <a:latin typeface="Yu Gothic"/>
                <a:ea typeface="Yu Gothic"/>
              </a:rPr>
              <a:t>・新2案は水路の横断（暗渠・橋）が必要。</a:t>
            </a:r>
          </a:p>
          <a:p>
            <a:pPr algn="l">
              <a:lnSpc>
                <a:spcPct val="130500"/>
              </a:lnSpc>
            </a:pPr>
            <a:r>
              <a:rPr sz="940" b="0">
                <a:solidFill>
                  <a:srgbClr val="1D2421"/>
                </a:solidFill>
                <a:latin typeface="Yu Gothic"/>
                <a:ea typeface="Yu Gothic"/>
              </a:rPr>
              <a:t>・排水は坂本さん所有地へ流せない前提で、自社地内に沈砂池と放流ルートを確保。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64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10 周辺建物・周辺環境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44000" y="306000"/>
            <a:ext cx="2844000" cy="216000"/>
          </a:xfrm>
          <a:prstGeom prst="rect">
            <a:avLst/>
          </a:prstGeom>
          <a:solidFill>
            <a:srgbClr val="B3261E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800" b="1">
                <a:solidFill>
                  <a:srgbClr val="FFFFFF"/>
                </a:solidFill>
                <a:latin typeface="Yu Gothic"/>
                <a:ea typeface="Yu Gothic"/>
              </a:rPr>
              <a:t>第2版：坂本さん所有地を取得対象から除外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000" y="522000"/>
            <a:ext cx="9684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隣接地・周辺環境との関係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4000" y="7200000"/>
            <a:ext cx="79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土地取得・開発検討資料（第2版 2026年10月）｜協議用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13 / 26</a:t>
            </a:r>
          </a:p>
        </p:txBody>
      </p:sp>
      <p:pic>
        <p:nvPicPr>
          <p:cNvPr id="9" name="Picture 8" descr="P15.jpg"/>
          <p:cNvPicPr>
            <a:picLocks noChangeAspect="1"/>
          </p:cNvPicPr>
          <p:nvPr/>
        </p:nvPicPr>
        <p:blipFill>
          <a:blip r:embed="rId2"/>
          <a:srcRect l="255" r="255"/>
          <a:stretch>
            <a:fillRect/>
          </a:stretch>
        </p:blipFill>
        <p:spPr>
          <a:xfrm>
            <a:off x="504000" y="1188000"/>
            <a:ext cx="2340000" cy="1764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00" y="1260000"/>
            <a:ext cx="324000" cy="234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" y="1267200"/>
            <a:ext cx="32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000" y="2736000"/>
            <a:ext cx="2340000" cy="216000"/>
          </a:xfrm>
          <a:prstGeom prst="rect">
            <a:avLst/>
          </a:prstGeom>
          <a:solidFill>
            <a:srgbClr val="8A6D00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800" b="1">
                <a:solidFill>
                  <a:srgbClr val="FFFFFF"/>
                </a:solidFill>
                <a:latin typeface="Yu Gothic"/>
                <a:ea typeface="Yu Gothic"/>
              </a:rPr>
              <a:t>要確認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000" y="2988000"/>
            <a:ext cx="234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100"/>
              </a:lnSpc>
            </a:pPr>
            <a:r>
              <a:rPr sz="800" b="1">
                <a:solidFill>
                  <a:srgbClr val="1D2421"/>
                </a:solidFill>
                <a:latin typeface="Yu Gothic"/>
                <a:ea typeface="Yu Gothic"/>
              </a:rPr>
              <a:t>写真15</a:t>
            </a:r>
            <a:r>
              <a:rPr sz="800" b="0">
                <a:solidFill>
                  <a:srgbClr val="1D2421"/>
                </a:solidFill>
                <a:latin typeface="Yu Gothic"/>
                <a:ea typeface="Yu Gothic"/>
              </a:rPr>
              <a:t> 脇道東端から南西：脇道南側区画（重機・石材）（方向 約235°・推定）</a:t>
            </a:r>
          </a:p>
        </p:txBody>
      </p:sp>
      <p:pic>
        <p:nvPicPr>
          <p:cNvPr id="14" name="Picture 13" descr="P06.jpg"/>
          <p:cNvPicPr>
            <a:picLocks noChangeAspect="1"/>
          </p:cNvPicPr>
          <p:nvPr/>
        </p:nvPicPr>
        <p:blipFill>
          <a:blip r:embed="rId3"/>
          <a:srcRect l="255" r="255"/>
          <a:stretch>
            <a:fillRect/>
          </a:stretch>
        </p:blipFill>
        <p:spPr>
          <a:xfrm>
            <a:off x="2952000" y="1188000"/>
            <a:ext cx="2340000" cy="17640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024000" y="1260000"/>
            <a:ext cx="324000" cy="234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24000" y="1267200"/>
            <a:ext cx="32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2000" y="2736000"/>
            <a:ext cx="2340000" cy="216000"/>
          </a:xfrm>
          <a:prstGeom prst="rect">
            <a:avLst/>
          </a:prstGeom>
          <a:solidFill>
            <a:srgbClr val="C62828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800" b="1">
                <a:solidFill>
                  <a:srgbClr val="FFFFFF"/>
                </a:solidFill>
                <a:latin typeface="Yu Gothic"/>
                <a:ea typeface="Yu Gothic"/>
              </a:rPr>
              <a:t>対象外（坂本さん所有地）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2000" y="2988000"/>
            <a:ext cx="234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100"/>
              </a:lnSpc>
            </a:pPr>
            <a:r>
              <a:rPr sz="800" b="1">
                <a:solidFill>
                  <a:srgbClr val="1D2421"/>
                </a:solidFill>
                <a:latin typeface="Yu Gothic"/>
                <a:ea typeface="Yu Gothic"/>
              </a:rPr>
              <a:t>写真6</a:t>
            </a:r>
            <a:r>
              <a:rPr sz="800" b="0">
                <a:solidFill>
                  <a:srgbClr val="1D2421"/>
                </a:solidFill>
                <a:latin typeface="Yu Gothic"/>
                <a:ea typeface="Yu Gothic"/>
              </a:rPr>
              <a:t> 石積みの段差（約1.5〜2m程度に見える）と東側住宅（方向 約50°・推定）</a:t>
            </a:r>
          </a:p>
        </p:txBody>
      </p:sp>
      <p:pic>
        <p:nvPicPr>
          <p:cNvPr id="19" name="Picture 18" descr="P05.jpg"/>
          <p:cNvPicPr>
            <a:picLocks noChangeAspect="1"/>
          </p:cNvPicPr>
          <p:nvPr/>
        </p:nvPicPr>
        <p:blipFill>
          <a:blip r:embed="rId4"/>
          <a:srcRect t="21731" b="21731"/>
          <a:stretch>
            <a:fillRect/>
          </a:stretch>
        </p:blipFill>
        <p:spPr>
          <a:xfrm>
            <a:off x="5400000" y="1188000"/>
            <a:ext cx="2340000" cy="17640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5472000" y="1260000"/>
            <a:ext cx="324000" cy="234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2000" y="1267200"/>
            <a:ext cx="32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0000" y="2736000"/>
            <a:ext cx="2340000" cy="216000"/>
          </a:xfrm>
          <a:prstGeom prst="rect">
            <a:avLst/>
          </a:prstGeom>
          <a:solidFill>
            <a:srgbClr val="C62828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800" b="1">
                <a:solidFill>
                  <a:srgbClr val="FFFFFF"/>
                </a:solidFill>
                <a:latin typeface="Yu Gothic"/>
                <a:ea typeface="Yu Gothic"/>
              </a:rPr>
              <a:t>対象外（坂本さん所有地）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0" y="2988000"/>
            <a:ext cx="234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100"/>
              </a:lnSpc>
            </a:pPr>
            <a:r>
              <a:rPr sz="800" b="1">
                <a:solidFill>
                  <a:srgbClr val="1D2421"/>
                </a:solidFill>
                <a:latin typeface="Yu Gothic"/>
                <a:ea typeface="Yu Gothic"/>
              </a:rPr>
              <a:t>写真5</a:t>
            </a:r>
            <a:r>
              <a:rPr sz="800" b="0">
                <a:solidFill>
                  <a:srgbClr val="1D2421"/>
                </a:solidFill>
                <a:latin typeface="Yu Gothic"/>
                <a:ea typeface="Yu Gothic"/>
              </a:rPr>
              <a:t> 脇道沿い：石積み段差と投棄物（方向 約20°・推定）</a:t>
            </a:r>
          </a:p>
        </p:txBody>
      </p:sp>
      <p:pic>
        <p:nvPicPr>
          <p:cNvPr id="24" name="Picture 23" descr="P03.jpg"/>
          <p:cNvPicPr>
            <a:picLocks noChangeAspect="1"/>
          </p:cNvPicPr>
          <p:nvPr/>
        </p:nvPicPr>
        <p:blipFill>
          <a:blip r:embed="rId5"/>
          <a:srcRect l="255" r="255"/>
          <a:stretch>
            <a:fillRect/>
          </a:stretch>
        </p:blipFill>
        <p:spPr>
          <a:xfrm>
            <a:off x="7848000" y="1188000"/>
            <a:ext cx="2340000" cy="176400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7920000" y="1260000"/>
            <a:ext cx="324000" cy="234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0000" y="1267200"/>
            <a:ext cx="32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48000" y="2736000"/>
            <a:ext cx="2340000" cy="216000"/>
          </a:xfrm>
          <a:prstGeom prst="rect">
            <a:avLst/>
          </a:prstGeom>
          <a:solidFill>
            <a:srgbClr val="C62828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800" b="1">
                <a:solidFill>
                  <a:srgbClr val="FFFFFF"/>
                </a:solidFill>
                <a:latin typeface="Yu Gothic"/>
                <a:ea typeface="Yu Gothic"/>
              </a:rPr>
              <a:t>対象外（坂本さん所有地）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8000" y="2988000"/>
            <a:ext cx="234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100"/>
              </a:lnSpc>
            </a:pPr>
            <a:r>
              <a:rPr sz="800" b="1">
                <a:solidFill>
                  <a:srgbClr val="1D2421"/>
                </a:solidFill>
                <a:latin typeface="Yu Gothic"/>
                <a:ea typeface="Yu Gothic"/>
              </a:rPr>
              <a:t>写真3</a:t>
            </a:r>
            <a:r>
              <a:rPr sz="800" b="0">
                <a:solidFill>
                  <a:srgbClr val="1D2421"/>
                </a:solidFill>
                <a:latin typeface="Yu Gothic"/>
                <a:ea typeface="Yu Gothic"/>
              </a:rPr>
              <a:t> 脇道から県道・対面ヤード方向を見る（方向 約290°・推定）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04000" y="3420000"/>
          <a:ext cx="9684000" cy="26784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584000"/>
                <a:gridCol w="3960000"/>
                <a:gridCol w="4140000"/>
              </a:tblGrid>
              <a:tr h="446400">
                <a:tc>
                  <a:txBody>
                    <a:bodyPr wrap="square"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対象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現況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協議・対策の論点（変更後）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</a:tr>
              <a:tr h="4464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坂本さん所有地（隣接）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県道沿い・脇道沿いの田面。投棄物あり（写真5）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境界立会い、粉じん・騒音・排水の配慮、今後の関係（賃貸・通行承諾の可能性を含む）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4464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東側住宅（約40m）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脇道沿いの住宅（写真6）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新1・2案は破砕機を北段へ移し約100m（図上概略）。新3案は約50mで対策が重い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4464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脇道南側区画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重機・石材・倉庫（写真15）。2378-1/2は坂本さん所有の可能性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第1版で事務所候補としたが要確認区域。取得前提にしない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4464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対面の資材ヤード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重機・砕石・倉庫（写真3）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所有者・業種。協業や一時保管の可能性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4464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東側斜面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土砂災害警戒区域の表示（参考）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施設を置かない。グレー（対象外）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64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11 土地除外による影響分析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44000" y="306000"/>
            <a:ext cx="2844000" cy="216000"/>
          </a:xfrm>
          <a:prstGeom prst="rect">
            <a:avLst/>
          </a:prstGeom>
          <a:solidFill>
            <a:srgbClr val="B3261E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800" b="1">
                <a:solidFill>
                  <a:srgbClr val="FFFFFF"/>
                </a:solidFill>
                <a:latin typeface="Yu Gothic"/>
                <a:ea typeface="Yu Gothic"/>
              </a:rPr>
              <a:t>第2版：坂本さん所有地を取得対象から除外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000" y="522000"/>
            <a:ext cx="9684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坂本さん所有地を取得しない場合の影響</a:t>
            </a:r>
          </a:p>
        </p:txBody>
      </p:sp>
      <p:sp>
        <p:nvSpPr>
          <p:cNvPr id="6" name="Rectangle 5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4000" y="1098000"/>
            <a:ext cx="9684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050" b="0">
                <a:solidFill>
                  <a:srgbClr val="5F6B66"/>
                </a:solidFill>
                <a:latin typeface="Yu Gothic"/>
                <a:ea typeface="Yu Gothic"/>
              </a:rPr>
              <a:t>評価　A：大きな影響なし／B：計画変更により対応可能／C：追加調査または協議が必要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000" y="7200000"/>
            <a:ext cx="79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土地取得・開発検討資料（第2版 2026年10月）｜協議用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14 / 26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4000" y="1404000"/>
          <a:ext cx="9684000" cy="55296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224000"/>
                <a:gridCol w="324000"/>
                <a:gridCol w="5832000"/>
                <a:gridCol w="2304000"/>
              </a:tblGrid>
              <a:tr h="345600">
                <a:tc>
                  <a:txBody>
                    <a:bodyPr wrap="square"/>
                    <a:lstStyle/>
                    <a:p>
                      <a:r>
                        <a:rPr sz="71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項目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評価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影響の内容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必要な確認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</a:tr>
              <a:tr h="345600"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利用可能な土地面積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C</a:t>
                      </a:r>
                    </a:p>
                  </a:txBody>
                  <a:tcPr marL="50400" marR="50400" marT="21600" marB="21600" anchor="ctr">
                    <a:solidFill>
                      <a:srgbClr val="F8C9C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図面記載の「2,995㎡」（中段）は坂本さん所有地を含む区画群の数値とみられ、除外後の面積は不明。中段の県道沿い（2369-1）・交差部（2372-1）・脇道沿い（2374）が除外。北段も北端（2355-3・2356-1）が除外。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登記事項証明書・地積測量図、現況測量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45600"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敷地全体の形状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C</a:t>
                      </a:r>
                    </a:p>
                  </a:txBody>
                  <a:tcPr marL="50400" marR="50400" marT="21600" marB="21600" anchor="ctr">
                    <a:solidFill>
                      <a:srgbClr val="F8C9C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中段は東側の不整形な区画（2368）に縮小。北段とは水路で分断。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測量後に配置を再検討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45600"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道路への接続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C</a:t>
                      </a:r>
                    </a:p>
                  </a:txBody>
                  <a:tcPr marL="50400" marR="50400" marT="21600" marB="21600" anchor="ctr">
                    <a:solidFill>
                      <a:srgbClr val="F8C9C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取得検討対象（2368）は図面上、県道に直接接していない。県道に接するのは北段（所有者未確認）と2369-4（所有者未確認）。第1版で想定した交差部付近の出入口は坂本さん所有地。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2369-4・北段の所有者確認、県道乗入れの事前協議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45600"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大型トラックの進入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C</a:t>
                      </a:r>
                    </a:p>
                  </a:txBody>
                  <a:tcPr marL="50400" marR="50400" marT="21600" marB="21600" anchor="ctr">
                    <a:solidFill>
                      <a:srgbClr val="F8C9C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進入は北段（新1・2案）か2369-4（新3案）経由に変更。脇道は生活道路で大型車に不適の可能性。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県道幅員・乗入れ位置の現地確認、道路管理者協議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45600"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大型車両の旋回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C</a:t>
                      </a:r>
                    </a:p>
                  </a:txBody>
                  <a:tcPr marL="50400" marR="50400" marT="21600" marB="21600" anchor="ctr">
                    <a:solidFill>
                      <a:srgbClr val="F8C9C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2368のみでは直径約25mの旋回円が収まらない可能性（図上概略）。北段なら収まる可能性があるが未測量。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現況測量・車両軌跡図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45600"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原木の保管能力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B</a:t>
                      </a:r>
                    </a:p>
                  </a:txBody>
                  <a:tcPr marL="50400" marR="50400" marT="21600" marB="21600" anchor="ctr">
                    <a:solidFill>
                      <a:srgbClr val="FFE9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中段の下段（平坦部）が使えず減少。北段を使えば確保できる見込み（新1・2案）。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原料の年間量・保管日数の確定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45600"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チップの保管能力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B</a:t>
                      </a:r>
                    </a:p>
                  </a:txBody>
                  <a:tcPr marL="50400" marR="50400" marT="21600" marB="21600" anchor="ctr">
                    <a:solidFill>
                      <a:srgbClr val="FFE9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中段東側（2368）を屋根付きチップ庫に充てれば確保可能（新2案）。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販売量・在庫日数の確定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45600"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破砕機の設置位置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B</a:t>
                      </a:r>
                    </a:p>
                  </a:txBody>
                  <a:tcPr marL="50400" marR="50400" marT="21600" marB="21600" anchor="ctr">
                    <a:solidFill>
                      <a:srgbClr val="FFE9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住宅から離れた北段へ移せるため、騒音面ではむしろ有利になる可能性（東側住宅までの距離：第1版A案 約50m → 新1・2案 約100m、図上概略）。新3案は約50mで住宅に近い。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機種選定・騒音予測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45600"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重機の作業効率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B</a:t>
                      </a:r>
                    </a:p>
                  </a:txBody>
                  <a:tcPr marL="50400" marR="50400" marT="21600" marB="21600" anchor="ctr">
                    <a:solidFill>
                      <a:srgbClr val="FFE9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新2案は北段と中段の往復が発生し効率低下。新1案は北段内で完結。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作業動線の詳細検討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45600"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造成工事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C</a:t>
                      </a:r>
                    </a:p>
                  </a:txBody>
                  <a:tcPr marL="50400" marR="50400" marT="21600" marB="21600" anchor="ctr">
                    <a:solidFill>
                      <a:srgbClr val="F8C9C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最も平坦で造成しやすい下段（坂本さん所有地）が使えない。上段・北段中心となり、段差処理・水路横断（新2案）が増える可能性。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現況測量・概略造成設計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45600"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排水計画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C</a:t>
                      </a:r>
                    </a:p>
                  </a:txBody>
                  <a:tcPr marL="50400" marR="50400" marT="21600" marB="21600" anchor="ctr">
                    <a:solidFill>
                      <a:srgbClr val="F8C9C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低い側（県道沿い・北西）の多くが対象外または要確認。坂本さん所有地を経由して放流できない可能性。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放流先・水路管理者との協議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45600"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隣接地との関係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C</a:t>
                      </a:r>
                    </a:p>
                  </a:txBody>
                  <a:tcPr marL="50400" marR="50400" marT="21600" marB="21600" anchor="ctr">
                    <a:solidFill>
                      <a:srgbClr val="F8C9C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坂本さん所有地が県道と取得検討対象の間に位置する。境界確定の立会い、粉じん・騒音・排水への配慮など関係維持が重要。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境界立会い、近隣説明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45600"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今後の土地取得交渉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C</a:t>
                      </a:r>
                    </a:p>
                  </a:txBody>
                  <a:tcPr marL="50400" marR="50400" marT="21600" marB="21600" anchor="ctr">
                    <a:solidFill>
                      <a:srgbClr val="F8C9C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北段・2369-4〜7の所有者確認と交渉が計画成立の前提。坂本さんとは売買以外（賃貸・通行承諾・境界協力）の可能性も含め丁寧に関係を継続。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登記取得後、所有者リストで交渉計画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45600"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電力の引込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A</a:t>
                      </a:r>
                    </a:p>
                  </a:txBody>
                  <a:tcPr marL="50400" marR="50400" marT="21600" marB="21600" anchor="ctr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配電線は県道沿いにあり（写真）、北段・中段どちらからも引込の検討は可能とみられる。容量は未確認。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電力会社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45600"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現場写真・撮影位置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A</a:t>
                      </a:r>
                    </a:p>
                  </a:txBody>
                  <a:tcPr marL="50400" marR="50400" marT="21600" marB="21600" anchor="ctr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写真番号・撮影位置・方向は維持。写っている土地の取得区分を追記。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1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―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64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12 土地利用計画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44000" y="306000"/>
            <a:ext cx="2844000" cy="216000"/>
          </a:xfrm>
          <a:prstGeom prst="rect">
            <a:avLst/>
          </a:prstGeom>
          <a:solidFill>
            <a:srgbClr val="B3261E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800" b="1">
                <a:solidFill>
                  <a:srgbClr val="FFFFFF"/>
                </a:solidFill>
                <a:latin typeface="Yu Gothic"/>
                <a:ea typeface="Yu Gothic"/>
              </a:rPr>
              <a:t>第2版：坂本さん所有地を取得対象から除外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000" y="522000"/>
            <a:ext cx="9684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変更後の土地利用の基本方針（概念）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4000" y="7200000"/>
            <a:ext cx="79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土地取得・開発検討資料（第2版 2026年10月）｜協議用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15 / 26</a:t>
            </a:r>
          </a:p>
        </p:txBody>
      </p:sp>
      <p:pic>
        <p:nvPicPr>
          <p:cNvPr id="9" name="Picture 8" descr="M4_ハザード重ね図_参考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2088000"/>
            <a:ext cx="3960000" cy="3960000"/>
          </a:xfrm>
          <a:prstGeom prst="rect">
            <a:avLst/>
          </a:prstGeom>
          <a:ln w="9525">
            <a:solidFill>
              <a:srgbClr val="D9DFDC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4680000" y="1188000"/>
            <a:ext cx="5508000" cy="2952000"/>
          </a:xfrm>
          <a:prstGeom prst="roundRect">
            <a:avLst>
              <a:gd name="adj" fmla="val 8000"/>
            </a:avLst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4000" y="1296000"/>
            <a:ext cx="522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050" b="1">
                <a:solidFill>
                  <a:srgbClr val="1F4D3A"/>
                </a:solidFill>
                <a:latin typeface="Yu Gothic"/>
                <a:ea typeface="Yu Gothic"/>
              </a:rPr>
              <a:t>基本方針（第2版）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4000" y="1548000"/>
            <a:ext cx="5220000" cy="2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940" b="0">
                <a:solidFill>
                  <a:srgbClr val="1D2421"/>
                </a:solidFill>
                <a:latin typeface="Yu Gothic"/>
                <a:ea typeface="Yu Gothic"/>
              </a:rPr>
              <a:t>・</a:t>
            </a:r>
            <a:r>
              <a:rPr sz="940" b="1">
                <a:solidFill>
                  <a:srgbClr val="1D2421"/>
                </a:solidFill>
                <a:latin typeface="Yu Gothic"/>
                <a:ea typeface="Yu Gothic"/>
              </a:rPr>
              <a:t>坂本さん所有地（赤）は使用しない</a:t>
            </a:r>
            <a:r>
              <a:rPr sz="940" b="0">
                <a:solidFill>
                  <a:srgbClr val="1D2421"/>
                </a:solidFill>
                <a:latin typeface="Yu Gothic"/>
                <a:ea typeface="Yu Gothic"/>
              </a:rPr>
              <a:t>。境界から離隔を取り、粉じん・排水が流れ込まない配置にする。</a:t>
            </a:r>
          </a:p>
          <a:p>
            <a:pPr algn="l">
              <a:lnSpc>
                <a:spcPct val="130500"/>
              </a:lnSpc>
            </a:pPr>
            <a:r>
              <a:rPr sz="940" b="0">
                <a:solidFill>
                  <a:srgbClr val="1D2421"/>
                </a:solidFill>
                <a:latin typeface="Yu Gothic"/>
                <a:ea typeface="Yu Gothic"/>
              </a:rPr>
              <a:t>・</a:t>
            </a:r>
            <a:r>
              <a:rPr sz="940" b="1">
                <a:solidFill>
                  <a:srgbClr val="1D2421"/>
                </a:solidFill>
                <a:latin typeface="Yu Gothic"/>
                <a:ea typeface="Yu Gothic"/>
              </a:rPr>
              <a:t>大型車の出入口・旋回・積込は北段に集約</a:t>
            </a:r>
            <a:r>
              <a:rPr sz="940" b="0">
                <a:solidFill>
                  <a:srgbClr val="1D2421"/>
                </a:solidFill>
                <a:latin typeface="Yu Gothic"/>
                <a:ea typeface="Yu Gothic"/>
              </a:rPr>
              <a:t>（新1・2案）。北段は東西幅に余裕があり、県道沿いに間口がある。</a:t>
            </a:r>
          </a:p>
          <a:p>
            <a:pPr algn="l">
              <a:lnSpc>
                <a:spcPct val="130500"/>
              </a:lnSpc>
            </a:pPr>
            <a:r>
              <a:rPr sz="940" b="0">
                <a:solidFill>
                  <a:srgbClr val="1D2421"/>
                </a:solidFill>
                <a:latin typeface="Yu Gothic"/>
                <a:ea typeface="Yu Gothic"/>
              </a:rPr>
              <a:t>・</a:t>
            </a:r>
            <a:r>
              <a:rPr sz="940" b="1">
                <a:solidFill>
                  <a:srgbClr val="1D2421"/>
                </a:solidFill>
                <a:latin typeface="Yu Gothic"/>
                <a:ea typeface="Yu Gothic"/>
              </a:rPr>
              <a:t>破砕機は住宅から最も遠い北段の東側</a:t>
            </a:r>
            <a:r>
              <a:rPr sz="940" b="0">
                <a:solidFill>
                  <a:srgbClr val="1D2421"/>
                </a:solidFill>
                <a:latin typeface="Yu Gothic"/>
                <a:ea typeface="Yu Gothic"/>
              </a:rPr>
              <a:t>へ（騒音対策）。</a:t>
            </a:r>
          </a:p>
          <a:p>
            <a:pPr algn="l">
              <a:lnSpc>
                <a:spcPct val="130500"/>
              </a:lnSpc>
            </a:pPr>
            <a:r>
              <a:rPr sz="940" b="0">
                <a:solidFill>
                  <a:srgbClr val="1D2421"/>
                </a:solidFill>
                <a:latin typeface="Yu Gothic"/>
                <a:ea typeface="Yu Gothic"/>
              </a:rPr>
              <a:t>・中段東側（2368）は、大型車が入らない</a:t>
            </a:r>
            <a:r>
              <a:rPr sz="940" b="1">
                <a:solidFill>
                  <a:srgbClr val="1D2421"/>
                </a:solidFill>
                <a:latin typeface="Yu Gothic"/>
                <a:ea typeface="Yu Gothic"/>
              </a:rPr>
              <a:t>保管用途</a:t>
            </a:r>
            <a:r>
              <a:rPr sz="940" b="0">
                <a:solidFill>
                  <a:srgbClr val="1D2421"/>
                </a:solidFill>
                <a:latin typeface="Yu Gothic"/>
                <a:ea typeface="Yu Gothic"/>
              </a:rPr>
              <a:t>（原木ストック・チップ庫）に使う。</a:t>
            </a:r>
          </a:p>
          <a:p>
            <a:pPr algn="l">
              <a:lnSpc>
                <a:spcPct val="130500"/>
              </a:lnSpc>
            </a:pPr>
            <a:r>
              <a:rPr sz="940" b="0">
                <a:solidFill>
                  <a:srgbClr val="1D2421"/>
                </a:solidFill>
                <a:latin typeface="Yu Gothic"/>
                <a:ea typeface="Yu Gothic"/>
              </a:rPr>
              <a:t>・東側斜面（土砂災害警戒区域の表示）には施設を置かない。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680000" y="4284000"/>
          <a:ext cx="5508000" cy="20304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440000"/>
                <a:gridCol w="4068000"/>
              </a:tblGrid>
              <a:tr h="338400">
                <a:tc>
                  <a:txBody>
                    <a:bodyPr wrap="square"/>
                    <a:lstStyle/>
                    <a:p>
                      <a:r>
                        <a:rPr sz="84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区域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用途（案）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</a:tr>
              <a:tr h="33840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北段（要確認）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出入口・旋回・荷下ろし・破砕・積込・事務所・沈砂池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3840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中段東側（2368）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原木ストック（長期）・屋根付きチップ庫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3840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2369-4〜7（要確認）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新2案は中段への連絡、新3案は出入口・旋回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3840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坂本さん所有地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使用しない（境界部は緩衝）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3840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脇道南側（要確認）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取得前提にしない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680000" y="6480000"/>
            <a:ext cx="5508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80" b="0">
                <a:solidFill>
                  <a:srgbClr val="5F6B66"/>
                </a:solidFill>
                <a:latin typeface="Yu Gothic"/>
                <a:ea typeface="Yu Gothic"/>
              </a:rPr>
              <a:t>左図：重ねるハザードマップの参考表示（第1版と同じ）。公式範囲は兵庫県・宍粟市で確認。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64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13 チップヤード施設配置案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44000" y="306000"/>
            <a:ext cx="2844000" cy="216000"/>
          </a:xfrm>
          <a:prstGeom prst="rect">
            <a:avLst/>
          </a:prstGeom>
          <a:solidFill>
            <a:srgbClr val="B3261E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800" b="1">
                <a:solidFill>
                  <a:srgbClr val="FFFFFF"/>
                </a:solidFill>
                <a:latin typeface="Yu Gothic"/>
                <a:ea typeface="Yu Gothic"/>
              </a:rPr>
              <a:t>第2版：坂本さん所有地を取得対象から除外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000" y="522000"/>
            <a:ext cx="9684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新1案：北段集約型（中段に触れない）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4000" y="7200000"/>
            <a:ext cx="79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土地取得・開発検討資料（第2版 2026年10月）｜協議用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16 / 26</a:t>
            </a:r>
          </a:p>
        </p:txBody>
      </p:sp>
      <p:pic>
        <p:nvPicPr>
          <p:cNvPr id="9" name="Picture 8" descr="M9-1_施設配置案_新1案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34" y="1188000"/>
            <a:ext cx="4176131" cy="5867999"/>
          </a:xfrm>
          <a:prstGeom prst="rect">
            <a:avLst/>
          </a:prstGeom>
          <a:ln w="9525">
            <a:solidFill>
              <a:srgbClr val="D9DFDC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4968000" y="1188000"/>
            <a:ext cx="5220000" cy="11520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12000" y="1296000"/>
            <a:ext cx="493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050" b="1">
                <a:solidFill>
                  <a:srgbClr val="B3261E"/>
                </a:solidFill>
                <a:latin typeface="Yu Gothic"/>
                <a:ea typeface="Yu Gothic"/>
              </a:rPr>
              <a:t>成立の前提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12000" y="1548000"/>
            <a:ext cx="4932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960" b="0">
                <a:solidFill>
                  <a:srgbClr val="1D2421"/>
                </a:solidFill>
                <a:latin typeface="Yu Gothic"/>
                <a:ea typeface="Yu Gothic"/>
              </a:rPr>
              <a:t>前提：北段（要確認区域）の所有者が坂本さん以外で、取得に応じること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68000" y="2484000"/>
            <a:ext cx="5220000" cy="1512000"/>
          </a:xfrm>
          <a:prstGeom prst="roundRect">
            <a:avLst>
              <a:gd name="adj" fmla="val 8000"/>
            </a:avLst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12000" y="2592000"/>
            <a:ext cx="493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050" b="1">
                <a:solidFill>
                  <a:srgbClr val="1F4D3A"/>
                </a:solidFill>
                <a:latin typeface="Yu Gothic"/>
                <a:ea typeface="Yu Gothic"/>
              </a:rPr>
              <a:t>メリット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12000" y="2844000"/>
            <a:ext cx="4932000" cy="1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940" b="0">
                <a:solidFill>
                  <a:srgbClr val="1D2421"/>
                </a:solidFill>
                <a:latin typeface="Yu Gothic"/>
                <a:ea typeface="Yu Gothic"/>
              </a:rPr>
              <a:t>県道沿いの北段で完結し、水路横断が不要。北段は東西幅が約45m前後（図上概略）あり、大型車の場内旋回を取りやすい。破砕機が住宅から離れる。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68000" y="4140000"/>
            <a:ext cx="5220000" cy="1800000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12000" y="4248000"/>
            <a:ext cx="493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050" b="1">
                <a:solidFill>
                  <a:srgbClr val="8A5A00"/>
                </a:solidFill>
                <a:latin typeface="Yu Gothic"/>
                <a:ea typeface="Yu Gothic"/>
              </a:rPr>
              <a:t>デメリット・課題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2000" y="4500000"/>
            <a:ext cx="4932000" cy="13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940" b="0">
                <a:solidFill>
                  <a:srgbClr val="1D2421"/>
                </a:solidFill>
                <a:latin typeface="Yu Gothic"/>
                <a:ea typeface="Yu Gothic"/>
              </a:rPr>
              <a:t>北段の所有者が未確認。北端は坂本さん所有地（2355-3・2356-1）で使えず、県道沿い西側（2355-4・2355-5）も坂本さん所有の可能性。図面2359に既存工作物とみられる表示あり。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68000" y="6084000"/>
            <a:ext cx="5220000" cy="936000"/>
          </a:xfrm>
          <a:prstGeom prst="rect">
            <a:avLst/>
          </a:prstGeom>
          <a:solidFill>
            <a:srgbClr val="F4F7F5"/>
          </a:solidFill>
        </p:spPr>
        <p:txBody>
          <a:bodyPr wrap="square" lIns="90000" rIns="90000" tIns="54000" bIns="5400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840" b="0">
                <a:solidFill>
                  <a:srgbClr val="5F6B66"/>
                </a:solidFill>
                <a:latin typeface="Yu Gothic"/>
                <a:ea typeface="Yu Gothic"/>
              </a:rPr>
              <a:t>概念配置図（計画イメージ）です。寸法・面積・勾配・旋回軌跡は未検討で、施工可能と断定するものではありません。番号は図中の凡例に対応。旋回スペースは直径約25mの目安（道路構造令の最小回転半径12mを参考）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64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13 チップヤード施設配置案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44000" y="306000"/>
            <a:ext cx="2844000" cy="216000"/>
          </a:xfrm>
          <a:prstGeom prst="rect">
            <a:avLst/>
          </a:prstGeom>
          <a:solidFill>
            <a:srgbClr val="B3261E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800" b="1">
                <a:solidFill>
                  <a:srgbClr val="FFFFFF"/>
                </a:solidFill>
                <a:latin typeface="Yu Gothic"/>
                <a:ea typeface="Yu Gothic"/>
              </a:rPr>
              <a:t>第2版：坂本さん所有地を取得対象から除外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000" y="522000"/>
            <a:ext cx="9684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新2案：北段＋中段東側 連結型（推奨・目標形）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4000" y="7200000"/>
            <a:ext cx="79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土地取得・開発検討資料（第2版 2026年10月）｜協議用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17 / 26</a:t>
            </a:r>
          </a:p>
        </p:txBody>
      </p:sp>
      <p:pic>
        <p:nvPicPr>
          <p:cNvPr id="9" name="Picture 8" descr="M9-2_施設配置案_新2案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34" y="1188000"/>
            <a:ext cx="4176131" cy="5867999"/>
          </a:xfrm>
          <a:prstGeom prst="rect">
            <a:avLst/>
          </a:prstGeom>
          <a:ln w="9525">
            <a:solidFill>
              <a:srgbClr val="D9DFDC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4968000" y="1188000"/>
            <a:ext cx="5220000" cy="11520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12000" y="1296000"/>
            <a:ext cx="493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050" b="1">
                <a:solidFill>
                  <a:srgbClr val="B3261E"/>
                </a:solidFill>
                <a:latin typeface="Yu Gothic"/>
                <a:ea typeface="Yu Gothic"/>
              </a:rPr>
              <a:t>成立の前提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12000" y="1548000"/>
            <a:ext cx="4932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960" b="0">
                <a:solidFill>
                  <a:srgbClr val="1D2421"/>
                </a:solidFill>
                <a:latin typeface="Yu Gothic"/>
                <a:ea typeface="Yu Gothic"/>
              </a:rPr>
              <a:t>前提：新1案の前提＋2369-5〜7（要確認）の取得、水路の横断（暗渠・橋）の協議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68000" y="2484000"/>
            <a:ext cx="5220000" cy="1512000"/>
          </a:xfrm>
          <a:prstGeom prst="roundRect">
            <a:avLst>
              <a:gd name="adj" fmla="val 8000"/>
            </a:avLst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12000" y="2592000"/>
            <a:ext cx="493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050" b="1">
                <a:solidFill>
                  <a:srgbClr val="1F4D3A"/>
                </a:solidFill>
                <a:latin typeface="Yu Gothic"/>
                <a:ea typeface="Yu Gothic"/>
              </a:rPr>
              <a:t>メリット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12000" y="2844000"/>
            <a:ext cx="4932000" cy="1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940" b="0">
                <a:solidFill>
                  <a:srgbClr val="1D2421"/>
                </a:solidFill>
                <a:latin typeface="Yu Gothic"/>
                <a:ea typeface="Yu Gothic"/>
              </a:rPr>
              <a:t>大型車は北段だけを走行（出入口・旋回・積込は北段）。中段東側（取得検討対象2368）を原木ストック・チップ庫に使い、保管能力を確保。破砕機は住宅から離れた北段。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68000" y="4140000"/>
            <a:ext cx="5220000" cy="1800000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12000" y="4248000"/>
            <a:ext cx="493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050" b="1">
                <a:solidFill>
                  <a:srgbClr val="8A5A00"/>
                </a:solidFill>
                <a:latin typeface="Yu Gothic"/>
                <a:ea typeface="Yu Gothic"/>
              </a:rPr>
              <a:t>デメリット・課題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2000" y="4500000"/>
            <a:ext cx="4932000" cy="13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940" b="0">
                <a:solidFill>
                  <a:srgbClr val="1D2421"/>
                </a:solidFill>
                <a:latin typeface="Yu Gothic"/>
                <a:ea typeface="Yu Gothic"/>
              </a:rPr>
              <a:t>水路横断が必要（管理者・水利権者協議）。北段と中段の間をホイールローダが往復し作業効率が下がる。所有者交渉の相手が増える。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68000" y="6084000"/>
            <a:ext cx="5220000" cy="936000"/>
          </a:xfrm>
          <a:prstGeom prst="rect">
            <a:avLst/>
          </a:prstGeom>
          <a:solidFill>
            <a:srgbClr val="F4F7F5"/>
          </a:solidFill>
        </p:spPr>
        <p:txBody>
          <a:bodyPr wrap="square" lIns="90000" rIns="90000" tIns="54000" bIns="5400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840" b="0">
                <a:solidFill>
                  <a:srgbClr val="5F6B66"/>
                </a:solidFill>
                <a:latin typeface="Yu Gothic"/>
                <a:ea typeface="Yu Gothic"/>
              </a:rPr>
              <a:t>概念配置図（計画イメージ）です。寸法・面積・勾配・旋回軌跡は未検討で、施工可能と断定するものではありません。番号は図中の凡例に対応。旋回スペースは直径約25mの目安（道路構造令の最小回転半径12mを参考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64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13 チップヤード施設配置案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44000" y="306000"/>
            <a:ext cx="2844000" cy="216000"/>
          </a:xfrm>
          <a:prstGeom prst="rect">
            <a:avLst/>
          </a:prstGeom>
          <a:solidFill>
            <a:srgbClr val="B3261E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800" b="1">
                <a:solidFill>
                  <a:srgbClr val="FFFFFF"/>
                </a:solidFill>
                <a:latin typeface="Yu Gothic"/>
                <a:ea typeface="Yu Gothic"/>
              </a:rPr>
              <a:t>第2版：坂本さん所有地を取得対象から除外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000" y="522000"/>
            <a:ext cx="9684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新3案：中段東側 最小構成型（2369-4から進入）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4000" y="7200000"/>
            <a:ext cx="79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土地取得・開発検討資料（第2版 2026年10月）｜協議用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18 / 26</a:t>
            </a:r>
          </a:p>
        </p:txBody>
      </p:sp>
      <p:pic>
        <p:nvPicPr>
          <p:cNvPr id="9" name="Picture 8" descr="M9-3_施設配置案_新3案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34" y="1188000"/>
            <a:ext cx="4176131" cy="5867999"/>
          </a:xfrm>
          <a:prstGeom prst="rect">
            <a:avLst/>
          </a:prstGeom>
          <a:ln w="9525">
            <a:solidFill>
              <a:srgbClr val="D9DFDC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4968000" y="1188000"/>
            <a:ext cx="5220000" cy="11520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12000" y="1296000"/>
            <a:ext cx="493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050" b="1">
                <a:solidFill>
                  <a:srgbClr val="B3261E"/>
                </a:solidFill>
                <a:latin typeface="Yu Gothic"/>
                <a:ea typeface="Yu Gothic"/>
              </a:rPr>
              <a:t>成立の前提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12000" y="1548000"/>
            <a:ext cx="4932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960" b="0">
                <a:solidFill>
                  <a:srgbClr val="1D2421"/>
                </a:solidFill>
                <a:latin typeface="Yu Gothic"/>
                <a:ea typeface="Yu Gothic"/>
              </a:rPr>
              <a:t>前提：2369-4・2369-5〜7（要確認）の取得。2369-4が取得できない場合は県道への進入路がない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68000" y="2484000"/>
            <a:ext cx="5220000" cy="1512000"/>
          </a:xfrm>
          <a:prstGeom prst="roundRect">
            <a:avLst>
              <a:gd name="adj" fmla="val 8000"/>
            </a:avLst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12000" y="2592000"/>
            <a:ext cx="493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050" b="1">
                <a:solidFill>
                  <a:srgbClr val="1F4D3A"/>
                </a:solidFill>
                <a:latin typeface="Yu Gothic"/>
                <a:ea typeface="Yu Gothic"/>
              </a:rPr>
              <a:t>メリット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12000" y="2844000"/>
            <a:ext cx="4932000" cy="1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940" b="0">
                <a:solidFill>
                  <a:srgbClr val="1D2421"/>
                </a:solidFill>
                <a:latin typeface="Yu Gothic"/>
                <a:ea typeface="Yu Gothic"/>
              </a:rPr>
              <a:t>北段の取得交渉がまとまらない場合の代替。移動式チッパー・屋外保管で初期投資を抑えられる。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68000" y="4140000"/>
            <a:ext cx="5220000" cy="1800000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12000" y="4248000"/>
            <a:ext cx="493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050" b="1">
                <a:solidFill>
                  <a:srgbClr val="8A5A00"/>
                </a:solidFill>
                <a:latin typeface="Yu Gothic"/>
                <a:ea typeface="Yu Gothic"/>
              </a:rPr>
              <a:t>デメリット・課題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2000" y="4500000"/>
            <a:ext cx="4932000" cy="13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940" b="0">
                <a:solidFill>
                  <a:srgbClr val="1D2421"/>
                </a:solidFill>
                <a:latin typeface="Yu Gothic"/>
                <a:ea typeface="Yu Gothic"/>
              </a:rPr>
              <a:t>取得検討対象（2368）だけでは県道に接していない（図面読取）。県道接道は2369-4（間口 約15〜17m・図上概略）のみ。直径約25mの旋回円は2369-5〜7を含めても余裕が小さく、切返しが必要になる可能性。住宅（約40m）に近く騒音対策が重い。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68000" y="6084000"/>
            <a:ext cx="5220000" cy="936000"/>
          </a:xfrm>
          <a:prstGeom prst="rect">
            <a:avLst/>
          </a:prstGeom>
          <a:solidFill>
            <a:srgbClr val="F4F7F5"/>
          </a:solidFill>
        </p:spPr>
        <p:txBody>
          <a:bodyPr wrap="square" lIns="90000" rIns="90000" tIns="54000" bIns="5400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840" b="0">
                <a:solidFill>
                  <a:srgbClr val="5F6B66"/>
                </a:solidFill>
                <a:latin typeface="Yu Gothic"/>
                <a:ea typeface="Yu Gothic"/>
              </a:rPr>
              <a:t>概念配置図（計画イメージ）です。寸法・面積・勾配・旋回軌跡は未検討で、施工可能と断定するものではありません。番号は図中の凡例に対応。旋回スペースは直径約25mの目安（道路構造令の最小回転半径12mを参考）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64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13 チップヤード施設配置案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44000" y="306000"/>
            <a:ext cx="2844000" cy="216000"/>
          </a:xfrm>
          <a:prstGeom prst="rect">
            <a:avLst/>
          </a:prstGeom>
          <a:solidFill>
            <a:srgbClr val="B3261E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800" b="1">
                <a:solidFill>
                  <a:srgbClr val="FFFFFF"/>
                </a:solidFill>
                <a:latin typeface="Yu Gothic"/>
                <a:ea typeface="Yu Gothic"/>
              </a:rPr>
              <a:t>第2版：坂本さん所有地を取得対象から除外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000" y="522000"/>
            <a:ext cx="9684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新配置案の比較と推奨</a:t>
            </a:r>
          </a:p>
        </p:txBody>
      </p:sp>
      <p:sp>
        <p:nvSpPr>
          <p:cNvPr id="6" name="Rectangle 5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4000" y="7200000"/>
            <a:ext cx="79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土地取得・開発検討資料（第2版 2026年10月）｜協議用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19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4000" y="1188000"/>
          <a:ext cx="6480000" cy="42768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440000"/>
                <a:gridCol w="1656000"/>
                <a:gridCol w="1692000"/>
                <a:gridCol w="1692000"/>
              </a:tblGrid>
              <a:tr h="388800">
                <a:tc>
                  <a:txBody>
                    <a:bodyPr wrap="square"/>
                    <a:lstStyle/>
                    <a:p>
                      <a:r>
                        <a:rPr sz="84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評価項目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新1案 北段集約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新2案 北段＋中段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新3案 中段最小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</a:tr>
              <a:tr h="38880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必要な土地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北段（要確認）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北段＋2368＋2369-5〜7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2368＋2369-4〜7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8880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県道への進入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○ 北段の間口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○ 北段の間口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△ 2369-4のみ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8880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大型車の旋回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○ 収まる可能性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○ 収まる可能性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△ 余裕小・切返し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8880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原木保管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○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◎ 中段も活用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△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8880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チップ保管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○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◎ 屋根付き庫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△ 屋外中心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8880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破砕機と住宅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◎ 約100m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◎ 約100m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△ 約50m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8880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水路横断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不要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必要（協議）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不要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8880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交渉相手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北段所有者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北段＋中段所有者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2368・2369所有者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8880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初期投資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中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大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小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8880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総合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第1期に推奨</a:t>
                      </a:r>
                    </a:p>
                  </a:txBody>
                  <a:tcPr marL="50400" marR="50400" marT="21600" marB="21600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1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目標形（推奨）</a:t>
                      </a:r>
                    </a:p>
                  </a:txBody>
                  <a:tcPr marL="50400" marR="50400" marT="21600" marB="21600" anchor="ctr">
                    <a:solidFill>
                      <a:srgbClr val="FFF6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代替案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200000" y="1188000"/>
            <a:ext cx="2988000" cy="5760000"/>
          </a:xfrm>
          <a:prstGeom prst="roundRect">
            <a:avLst>
              <a:gd name="adj" fmla="val 8000"/>
            </a:avLst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44000" y="1296000"/>
            <a:ext cx="27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050" b="1">
                <a:solidFill>
                  <a:srgbClr val="1F4D3A"/>
                </a:solidFill>
                <a:latin typeface="Yu Gothic"/>
                <a:ea typeface="Yu Gothic"/>
              </a:rPr>
              <a:t>推奨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44000" y="1548000"/>
            <a:ext cx="2700000" cy="532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860" b="1">
                <a:solidFill>
                  <a:srgbClr val="1D2421"/>
                </a:solidFill>
                <a:latin typeface="Yu Gothic"/>
                <a:ea typeface="Yu Gothic"/>
              </a:rPr>
              <a:t>北段の所有者確認を最優先し、取得可能なら新1案で始めて新2案へ拡張。</a:t>
            </a:r>
          </a:p>
          <a:p>
            <a:pPr algn="l">
              <a:lnSpc>
                <a:spcPct val="130500"/>
              </a:lnSpc>
            </a:pP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 </a:t>
            </a:r>
          </a:p>
          <a:p>
            <a:pPr algn="l">
              <a:lnSpc>
                <a:spcPct val="130500"/>
              </a:lnSpc>
            </a:pP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理由</a:t>
            </a:r>
          </a:p>
          <a:p>
            <a:pPr algn="l">
              <a:lnSpc>
                <a:spcPct val="130500"/>
              </a:lnSpc>
            </a:pP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・坂本さん所有地を使わずに、県道からの進入と旋回を確保できる唯一の形。</a:t>
            </a:r>
          </a:p>
          <a:p>
            <a:pPr algn="l">
              <a:lnSpc>
                <a:spcPct val="130500"/>
              </a:lnSpc>
            </a:pP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・破砕機を住宅から約100m離せる（図上概略）。</a:t>
            </a:r>
          </a:p>
          <a:p>
            <a:pPr algn="l">
              <a:lnSpc>
                <a:spcPct val="130500"/>
              </a:lnSpc>
            </a:pP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・中段東側（緑）は大型車を入れず保管に使えば、接道がなくても活用できる。</a:t>
            </a:r>
          </a:p>
          <a:p>
            <a:pPr algn="l">
              <a:lnSpc>
                <a:spcPct val="130500"/>
              </a:lnSpc>
            </a:pP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 </a:t>
            </a:r>
          </a:p>
          <a:p>
            <a:pPr algn="l">
              <a:lnSpc>
                <a:spcPct val="130500"/>
              </a:lnSpc>
            </a:pP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北段が困難な場合</a:t>
            </a:r>
          </a:p>
          <a:p>
            <a:pPr algn="l">
              <a:lnSpc>
                <a:spcPct val="130500"/>
              </a:lnSpc>
            </a:pP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・新3案（2369-4経由）を検討。</a:t>
            </a:r>
          </a:p>
          <a:p>
            <a:pPr algn="l">
              <a:lnSpc>
                <a:spcPct val="130500"/>
              </a:lnSpc>
            </a:pP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・それも困難なら、坂本さんとの通行承諾・借地の相談、または候補地の再検討。</a:t>
            </a:r>
          </a:p>
          <a:p>
            <a:pPr algn="l">
              <a:lnSpc>
                <a:spcPct val="130500"/>
              </a:lnSpc>
            </a:pP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 </a:t>
            </a:r>
          </a:p>
          <a:p>
            <a:pPr algn="l">
              <a:lnSpc>
                <a:spcPct val="130500"/>
              </a:lnSpc>
            </a:pP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全社リソース</a:t>
            </a:r>
          </a:p>
          <a:p>
            <a:pPr algn="l">
              <a:lnSpc>
                <a:spcPct val="130500"/>
              </a:lnSpc>
            </a:pP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・造成は自社の建設・解体部門で内製できる可能性。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64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14 造成・インフラ検討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44000" y="306000"/>
            <a:ext cx="2844000" cy="216000"/>
          </a:xfrm>
          <a:prstGeom prst="rect">
            <a:avLst/>
          </a:prstGeom>
          <a:solidFill>
            <a:srgbClr val="B3261E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800" b="1">
                <a:solidFill>
                  <a:srgbClr val="FFFFFF"/>
                </a:solidFill>
                <a:latin typeface="Yu Gothic"/>
                <a:ea typeface="Yu Gothic"/>
              </a:rPr>
              <a:t>第2版：坂本さん所有地を取得対象から除外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000" y="522000"/>
            <a:ext cx="9684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造成・インフラの検討項目（変更後）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4000" y="7200000"/>
            <a:ext cx="79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土地取得・開発検討資料（第2版 2026年10月）｜協議用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20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4000" y="1188000"/>
          <a:ext cx="9684000" cy="5544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224000"/>
                <a:gridCol w="3960000"/>
                <a:gridCol w="4500000"/>
              </a:tblGrid>
              <a:tr h="554400">
                <a:tc>
                  <a:txBody>
                    <a:bodyPr wrap="square"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項目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分かっていること（根拠）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確認・設計が必要なこと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</a:tr>
              <a:tr h="5544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高低差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北段は県道に沿って北へ下る（県道 約396〜400m）。中段東側 約400〜401m（地理院・概略）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北段・中段東側の現況測量、切盛土量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5544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造成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平坦な下段（坂本さん所有地）は使えない。上段・北段中心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坂本さん所有地との境界の段差処理（擁壁・法面を自社地内で）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5544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水路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北段と中段の間に流水のある水路（写真10）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新2案の横断方法（暗渠・橋）、管理者・水利権者協議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5544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排水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低い西側（県道沿い）の多くが坂本さん所有地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坂本さん所有地を経由しない放流ルート、沈砂池の位置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5544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地盤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元水田・棚田とみられる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地盤調査（大型車・重機の走行部）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5544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電力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県道沿いに配電線（写真）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北段への動力引込の可否・容量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5544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上空電線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県道沿い・敷地上空に電線（写真4ほか）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北段出入口付近の高さ測定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5544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既存工作物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図面の2359に橙色の斜線表示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現地確認（撤去・移設の要否）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5544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防火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―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指定可燃物の貯蔵量・防火水槽の位置（消防協議）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64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15 土地取得に必要な確認事項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44000" y="306000"/>
            <a:ext cx="2844000" cy="216000"/>
          </a:xfrm>
          <a:prstGeom prst="rect">
            <a:avLst/>
          </a:prstGeom>
          <a:solidFill>
            <a:srgbClr val="B3261E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800" b="1">
                <a:solidFill>
                  <a:srgbClr val="FFFFFF"/>
                </a:solidFill>
                <a:latin typeface="Yu Gothic"/>
                <a:ea typeface="Yu Gothic"/>
              </a:rPr>
              <a:t>第2版：坂本さん所有地を取得対象から除外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000" y="522000"/>
            <a:ext cx="9684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土地取得の確認事項（確認済み／要確認）— 第2版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4000" y="7200000"/>
            <a:ext cx="79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土地取得・開発検討資料（第2版 2026年10月）｜協議用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21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4000" y="1188000"/>
          <a:ext cx="9684000" cy="49896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224000"/>
                <a:gridCol w="4068000"/>
                <a:gridCol w="936000"/>
                <a:gridCol w="3456000"/>
              </a:tblGrid>
              <a:tr h="453600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項目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現時点の情報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状態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確認先・方法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</a:tr>
              <a:tr h="4536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取得対象地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緑（2368-1〜3）＋黄のうち坂本さん名義でない筆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未確定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登記で所有者を確定し、範囲を決める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4536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坂本さん所有地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5筆を判読（2355-3, 2356-1, 2369-1, 2372-1, 2374）＋2355-2（位置不明）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読取のみ</a:t>
                      </a:r>
                    </a:p>
                  </a:txBody>
                  <a:tcPr marL="50400" marR="50400" marT="21600" marB="21600" anchor="ctr">
                    <a:solidFill>
                      <a:srgbClr val="FFF6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登記事項証明書で全筆を確認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4536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坂本さんの同一性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図面の「坂本 修」と協議中の坂本さん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未確認</a:t>
                      </a:r>
                    </a:p>
                  </a:txBody>
                  <a:tcPr marL="50400" marR="50400" marT="21600" marB="21600" anchor="ctr"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登記・本人確認、共有者の有無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4536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北段の所有者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引出線が交錯し判読不可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未確認</a:t>
                      </a:r>
                    </a:p>
                  </a:txBody>
                  <a:tcPr marL="50400" marR="50400" marT="21600" marB="21600" anchor="ctr"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登記事項証明書・公図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4536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地番・面積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記載面積は坂本さん所有地を含む区画群の値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読取のみ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登記・地積測量図・現況測量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4536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境界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未確定。坂本さん所有地と全周で接する可能性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未確定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土地家屋調査士・立会い（坂本さんの協力が必要）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4536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接道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緑（2368）は県道に直接接していない（図面読取）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要確認</a:t>
                      </a:r>
                    </a:p>
                  </a:txBody>
                  <a:tcPr marL="50400" marR="50400" marT="21600" marB="21600" anchor="ctr"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北段・2369-4の取得可否、県土木事務所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4536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地目・農振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棚田の現況から「田」の可能性が高い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未確認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農業委員会（転用・農振除外）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4536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開発許可等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取得範囲の変更で面積が変わる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未確認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範囲確定後に市・県へ相談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4536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その他法令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騒音・振動・消防・廃棄物・森林法・文化財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未確認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各担当窓口（Excel一覧）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64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16 今後の協議事項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44000" y="306000"/>
            <a:ext cx="2844000" cy="216000"/>
          </a:xfrm>
          <a:prstGeom prst="rect">
            <a:avLst/>
          </a:prstGeom>
          <a:solidFill>
            <a:srgbClr val="B3261E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800" b="1">
                <a:solidFill>
                  <a:srgbClr val="FFFFFF"/>
                </a:solidFill>
                <a:latin typeface="Yu Gothic"/>
                <a:ea typeface="Yu Gothic"/>
              </a:rPr>
              <a:t>第2版：坂本さん所有地を取得対象から除外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000" y="522000"/>
            <a:ext cx="9684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今後の協議事項（確認できた事実／未確認事項）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4000" y="7200000"/>
            <a:ext cx="79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土地取得・開発検討資料（第2版 2026年10月）｜協議用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22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4000" y="1188000"/>
          <a:ext cx="9684000" cy="5616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584000"/>
                <a:gridCol w="3240000"/>
                <a:gridCol w="3240000"/>
                <a:gridCol w="1620000"/>
              </a:tblGrid>
              <a:tr h="561600">
                <a:tc>
                  <a:txBody>
                    <a:bodyPr wrap="square"/>
                    <a:lstStyle/>
                    <a:p>
                      <a:r>
                        <a:rPr sz="76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協議事項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確認できた事実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未確認事項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確認先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</a:tr>
              <a:tr h="561600">
                <a:tc>
                  <a:txBody>
                    <a:bodyPr wrap="square"/>
                    <a:lstStyle/>
                    <a:p>
                      <a:r>
                        <a:rPr sz="7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① 取得可能な土地の範囲確定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坂本さん（坂本 修 名義）の判読できる筆：2355-3, 2356-1, 2369-1, 2372-1, 2374（ほか2355-2は位置不明）。非坂本と判読できる筆：2368-1〜3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北段・2369-4〜7・脇道南側の所有者。坂本さんの所有範囲の全体（引出線のみの筆）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図面作成者・法務局・坂本さん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wrap="square"/>
                    <a:lstStyle/>
                    <a:p>
                      <a:r>
                        <a:rPr sz="7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② 所有者・地番・面積の確認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図面の地番・記載面積（3,904/2,995/960/1,315㎡）は読取値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登記上の地目・面積・名義人。「坂本 修」と協議中の坂本さんが同一人物か、共有者の有無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法務局（登記事項証明書・公図）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561600">
                <a:tc>
                  <a:txBody>
                    <a:bodyPr wrap="square"/>
                    <a:lstStyle/>
                    <a:p>
                      <a:r>
                        <a:rPr sz="7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③ 土地境界の確認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境界は未確定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坂本さん所有地との境界（取得地と接する全周）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土地家屋調査士・坂本さんほか隣接者の立会い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wrap="square"/>
                    <a:lstStyle/>
                    <a:p>
                      <a:r>
                        <a:rPr sz="7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④ 大型トラックの進入経路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県道・脇道に面していることは写真・地図で確認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取得検討対象から県道への接道（北段・2369-4経由）、県道幅員・乗入れ可否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県土木事務所、現地計測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561600">
                <a:tc>
                  <a:txBody>
                    <a:bodyPr wrap="square"/>
                    <a:lstStyle/>
                    <a:p>
                      <a:r>
                        <a:rPr sz="7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⑤ 必要な造成工事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標高差：下段 約398〜401m、脇道東端 約403m（地理院）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北段・上段の切盛土量、水路横断の要否、石積みの処理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現況測量・概略造成設計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wrap="square"/>
                    <a:lstStyle/>
                    <a:p>
                      <a:r>
                        <a:rPr sz="7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⑥ 施設配置の実現可能性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新1〜3案は概念配置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取得範囲確定後の寸法・旋回軌跡・保管量の成立性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測量後の配置計画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561600">
                <a:tc>
                  <a:txBody>
                    <a:bodyPr wrap="square"/>
                    <a:lstStyle/>
                    <a:p>
                      <a:r>
                        <a:rPr sz="7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⑦ 関係法令・許認可の確認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―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農地転用・農振、開発許可、森林法、道路法、騒音規制、消防、廃棄物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宍粟市・兵庫県・消防本部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wrap="square"/>
                    <a:lstStyle/>
                    <a:p>
                      <a:r>
                        <a:rPr sz="7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⑧ 土地取得費用と造成費用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根拠となる価格・見積なし（数値は作成していない）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取得単価、造成・水路横断・舗装の概算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所有者交渉・建設部門/外注見積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561600">
                <a:tc>
                  <a:txBody>
                    <a:bodyPr wrap="square"/>
                    <a:lstStyle/>
                    <a:p>
                      <a:r>
                        <a:rPr sz="7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⑨ 今後の交渉スケジュール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坂本さんは現時点で売却しない意向（協議上の前提）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北段・中段の各所有者への打診時期、坂本さんとの今後の関係（賃貸・通行承諾等の可能性）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社内で担当者・期限を設定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64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17 今後の進め方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44000" y="306000"/>
            <a:ext cx="2844000" cy="216000"/>
          </a:xfrm>
          <a:prstGeom prst="rect">
            <a:avLst/>
          </a:prstGeom>
          <a:solidFill>
            <a:srgbClr val="B3261E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800" b="1">
                <a:solidFill>
                  <a:srgbClr val="FFFFFF"/>
                </a:solidFill>
                <a:latin typeface="Yu Gothic"/>
                <a:ea typeface="Yu Gothic"/>
              </a:rPr>
              <a:t>第2版：坂本さん所有地を取得対象から除外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000" y="522000"/>
            <a:ext cx="9684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進め方と判断ポイント（第2版）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4000" y="7200000"/>
            <a:ext cx="79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土地取得・開発検討資料（第2版 2026年10月）｜協議用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23 /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" y="1224000"/>
            <a:ext cx="1548000" cy="57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4000" y="1278000"/>
            <a:ext cx="15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150"/>
              </a:lnSpc>
            </a:pPr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STEP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000" y="1512000"/>
            <a:ext cx="15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登記の確認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000" y="1872000"/>
            <a:ext cx="15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150"/>
              </a:lnSpc>
            </a:pPr>
            <a:r>
              <a:rPr sz="850" b="1">
                <a:solidFill>
                  <a:srgbClr val="2E6B52"/>
                </a:solidFill>
                <a:latin typeface="Yu Gothic"/>
                <a:ea typeface="Yu Gothic"/>
              </a:rPr>
              <a:t>〜2週間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2088000"/>
            <a:ext cx="1476000" cy="1224000"/>
          </a:xfrm>
          <a:prstGeom prst="rect">
            <a:avLst/>
          </a:prstGeom>
          <a:solidFill>
            <a:srgbClr val="F4F7F5"/>
          </a:solidFill>
        </p:spPr>
        <p:txBody>
          <a:bodyPr wrap="square" lIns="90000" rIns="90000" tIns="54000" bIns="5400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0">
                <a:solidFill>
                  <a:srgbClr val="1D2421"/>
                </a:solidFill>
                <a:latin typeface="Yu Gothic"/>
                <a:ea typeface="Yu Gothic"/>
              </a:rPr>
              <a:t>黄・緑区域の登記事項証明書・公図を取得／坂本さん名義の範囲を確定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24000" y="1224000"/>
            <a:ext cx="1548000" cy="57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24000" y="1278000"/>
            <a:ext cx="15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150"/>
              </a:lnSpc>
            </a:pPr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4000" y="1512000"/>
            <a:ext cx="15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取得範囲の確定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4000" y="1872000"/>
            <a:ext cx="15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150"/>
              </a:lnSpc>
            </a:pPr>
            <a:r>
              <a:rPr sz="850" b="1">
                <a:solidFill>
                  <a:srgbClr val="2E6B52"/>
                </a:solidFill>
                <a:latin typeface="Yu Gothic"/>
                <a:ea typeface="Yu Gothic"/>
              </a:rPr>
              <a:t>〜1か月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60000" y="2088000"/>
            <a:ext cx="1476000" cy="1224000"/>
          </a:xfrm>
          <a:prstGeom prst="rect">
            <a:avLst/>
          </a:prstGeom>
          <a:solidFill>
            <a:srgbClr val="F4F7F5"/>
          </a:solidFill>
        </p:spPr>
        <p:txBody>
          <a:bodyPr wrap="square" lIns="90000" rIns="90000" tIns="54000" bIns="5400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0">
                <a:solidFill>
                  <a:srgbClr val="1D2421"/>
                </a:solidFill>
                <a:latin typeface="Yu Gothic"/>
                <a:ea typeface="Yu Gothic"/>
              </a:rPr>
              <a:t>北段・2369-4〜7の所有者へ打診／県道乗入れ・農地転用の事前相談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4000" y="1224000"/>
            <a:ext cx="1548000" cy="576000"/>
          </a:xfrm>
          <a:prstGeom prst="roundRect">
            <a:avLst>
              <a:gd name="adj" fmla="val 8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4000" y="1278000"/>
            <a:ext cx="15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150"/>
              </a:lnSpc>
            </a:pPr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判断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4000" y="1512000"/>
            <a:ext cx="15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案の選択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4000" y="1872000"/>
            <a:ext cx="15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150"/>
              </a:lnSpc>
            </a:pPr>
            <a:r>
              <a:rPr sz="850" b="1">
                <a:solidFill>
                  <a:srgbClr val="2E6B52"/>
                </a:solidFill>
                <a:latin typeface="Yu Gothic"/>
                <a:ea typeface="Yu Gothic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80000" y="2088000"/>
            <a:ext cx="1476000" cy="1224000"/>
          </a:xfrm>
          <a:prstGeom prst="rect">
            <a:avLst/>
          </a:prstGeom>
          <a:solidFill>
            <a:srgbClr val="F4F7F5"/>
          </a:solidFill>
        </p:spPr>
        <p:txBody>
          <a:bodyPr wrap="square" lIns="90000" rIns="90000" tIns="54000" bIns="5400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0">
                <a:solidFill>
                  <a:srgbClr val="1D2421"/>
                </a:solidFill>
                <a:latin typeface="Yu Gothic"/>
                <a:ea typeface="Yu Gothic"/>
              </a:rPr>
              <a:t>北段可→新1・2案／北段不可→新3案／いずれも不可→撤退・再検討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64000" y="1224000"/>
            <a:ext cx="1548000" cy="57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64000" y="1278000"/>
            <a:ext cx="15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150"/>
              </a:lnSpc>
            </a:pPr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STEP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4000" y="1512000"/>
            <a:ext cx="15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計画の具体化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64000" y="1872000"/>
            <a:ext cx="15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150"/>
              </a:lnSpc>
            </a:pPr>
            <a:r>
              <a:rPr sz="850" b="1">
                <a:solidFill>
                  <a:srgbClr val="2E6B52"/>
                </a:solidFill>
                <a:latin typeface="Yu Gothic"/>
                <a:ea typeface="Yu Gothic"/>
              </a:rPr>
              <a:t>〜3か月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0000" y="2088000"/>
            <a:ext cx="1476000" cy="1224000"/>
          </a:xfrm>
          <a:prstGeom prst="rect">
            <a:avLst/>
          </a:prstGeom>
          <a:solidFill>
            <a:srgbClr val="F4F7F5"/>
          </a:solidFill>
        </p:spPr>
        <p:txBody>
          <a:bodyPr wrap="square" lIns="90000" rIns="90000" tIns="54000" bIns="5400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0">
                <a:solidFill>
                  <a:srgbClr val="1D2421"/>
                </a:solidFill>
                <a:latin typeface="Yu Gothic"/>
                <a:ea typeface="Yu Gothic"/>
              </a:rPr>
              <a:t>現況測量・境界立会い・概略造成設計・見積・収支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84000" y="1224000"/>
            <a:ext cx="1548000" cy="57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84000" y="1278000"/>
            <a:ext cx="15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150"/>
              </a:lnSpc>
            </a:pPr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STEP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4000" y="1512000"/>
            <a:ext cx="15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許認可・契約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84000" y="1872000"/>
            <a:ext cx="15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150"/>
              </a:lnSpc>
            </a:pPr>
            <a:r>
              <a:rPr sz="850" b="1">
                <a:solidFill>
                  <a:srgbClr val="2E6B52"/>
                </a:solidFill>
                <a:latin typeface="Yu Gothic"/>
                <a:ea typeface="Yu Gothic"/>
              </a:rPr>
              <a:t>以降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0000" y="2088000"/>
            <a:ext cx="1476000" cy="1224000"/>
          </a:xfrm>
          <a:prstGeom prst="rect">
            <a:avLst/>
          </a:prstGeom>
          <a:solidFill>
            <a:srgbClr val="F4F7F5"/>
          </a:solidFill>
        </p:spPr>
        <p:txBody>
          <a:bodyPr wrap="square" lIns="90000" rIns="90000" tIns="54000" bIns="5400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0">
                <a:solidFill>
                  <a:srgbClr val="1D2421"/>
                </a:solidFill>
                <a:latin typeface="Yu Gothic"/>
                <a:ea typeface="Yu Gothic"/>
              </a:rPr>
              <a:t>停止条件付き契約／農地転用等の申請／近隣説明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04000" y="1224000"/>
            <a:ext cx="1548000" cy="57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04000" y="1278000"/>
            <a:ext cx="15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150"/>
              </a:lnSpc>
            </a:pPr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STEP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04000" y="1512000"/>
            <a:ext cx="15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造成・建設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04000" y="1872000"/>
            <a:ext cx="15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150"/>
              </a:lnSpc>
            </a:pPr>
            <a:r>
              <a:rPr sz="850" b="1">
                <a:solidFill>
                  <a:srgbClr val="2E6B52"/>
                </a:solidFill>
                <a:latin typeface="Yu Gothic"/>
                <a:ea typeface="Yu Gothic"/>
              </a:rP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0000" y="2088000"/>
            <a:ext cx="1476000" cy="1224000"/>
          </a:xfrm>
          <a:prstGeom prst="rect">
            <a:avLst/>
          </a:prstGeom>
          <a:solidFill>
            <a:srgbClr val="F4F7F5"/>
          </a:solidFill>
        </p:spPr>
        <p:txBody>
          <a:bodyPr wrap="square" lIns="90000" rIns="90000" tIns="54000" bIns="5400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0">
                <a:solidFill>
                  <a:srgbClr val="1D2421"/>
                </a:solidFill>
                <a:latin typeface="Yu Gothic"/>
                <a:ea typeface="Yu Gothic"/>
              </a:rPr>
              <a:t>第1期（北段）→ 第2期（中段連結）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4000" y="3528000"/>
            <a:ext cx="4752000" cy="34560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8000" y="3636000"/>
            <a:ext cx="446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050" b="1">
                <a:solidFill>
                  <a:srgbClr val="B3261E"/>
                </a:solidFill>
                <a:latin typeface="Yu Gothic"/>
                <a:ea typeface="Yu Gothic"/>
              </a:rPr>
              <a:t>撤退条件（例：第2版で追加・変更）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8000" y="3888000"/>
            <a:ext cx="4464000" cy="30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960" b="0">
                <a:solidFill>
                  <a:srgbClr val="1D2421"/>
                </a:solidFill>
                <a:latin typeface="Yu Gothic"/>
                <a:ea typeface="Yu Gothic"/>
              </a:rPr>
              <a:t>・北段・2369-4のいずれからも県道への進入路を確保できない。</a:t>
            </a:r>
          </a:p>
          <a:p>
            <a:pPr algn="l">
              <a:lnSpc>
                <a:spcPct val="130500"/>
              </a:lnSpc>
            </a:pPr>
            <a:r>
              <a:rPr sz="960" b="0">
                <a:solidFill>
                  <a:srgbClr val="1D2421"/>
                </a:solidFill>
                <a:latin typeface="Yu Gothic"/>
                <a:ea typeface="Yu Gothic"/>
              </a:rPr>
              <a:t>・黄色区域の大半が坂本さん名義と判明し、取得可能な土地で施設が成り立たない。</a:t>
            </a:r>
          </a:p>
          <a:p>
            <a:pPr algn="l">
              <a:lnSpc>
                <a:spcPct val="130500"/>
              </a:lnSpc>
            </a:pPr>
            <a:r>
              <a:rPr sz="960" b="0">
                <a:solidFill>
                  <a:srgbClr val="1D2421"/>
                </a:solidFill>
                <a:latin typeface="Yu Gothic"/>
                <a:ea typeface="Yu Gothic"/>
              </a:rPr>
              <a:t>・農振除外・農地転用の見込みが立たない。</a:t>
            </a:r>
          </a:p>
          <a:p>
            <a:pPr algn="l">
              <a:lnSpc>
                <a:spcPct val="130500"/>
              </a:lnSpc>
            </a:pPr>
            <a:r>
              <a:rPr sz="960" b="0">
                <a:solidFill>
                  <a:srgbClr val="1D2421"/>
                </a:solidFill>
                <a:latin typeface="Yu Gothic"/>
                <a:ea typeface="Yu Gothic"/>
              </a:rPr>
              <a:t>・境界確定に必要な隣接者の協力が得られない。</a:t>
            </a:r>
          </a:p>
          <a:p>
            <a:pPr algn="l">
              <a:lnSpc>
                <a:spcPct val="130500"/>
              </a:lnSpc>
            </a:pPr>
            <a:r>
              <a:rPr sz="960" b="0">
                <a:solidFill>
                  <a:srgbClr val="1D2421"/>
                </a:solidFill>
                <a:latin typeface="Yu Gothic"/>
                <a:ea typeface="Yu Gothic"/>
              </a:rPr>
              <a:t>・造成費（段差処理・水路横断）を含めた回収年数が社内基準を超える。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36000" y="3528000"/>
            <a:ext cx="4752000" cy="3456000"/>
          </a:xfrm>
          <a:prstGeom prst="roundRect">
            <a:avLst>
              <a:gd name="adj" fmla="val 8000"/>
            </a:avLst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80000" y="3636000"/>
            <a:ext cx="446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050" b="1">
                <a:solidFill>
                  <a:srgbClr val="1F4D3A"/>
                </a:solidFill>
                <a:latin typeface="Yu Gothic"/>
                <a:ea typeface="Yu Gothic"/>
              </a:rPr>
              <a:t>小さく始める一歩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80000" y="3888000"/>
            <a:ext cx="4464000" cy="30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960" b="0">
                <a:solidFill>
                  <a:srgbClr val="1D2421"/>
                </a:solidFill>
                <a:latin typeface="Yu Gothic"/>
                <a:ea typeface="Yu Gothic"/>
              </a:rPr>
              <a:t>・</a:t>
            </a:r>
            <a:r>
              <a:rPr sz="960" b="1">
                <a:solidFill>
                  <a:srgbClr val="1D2421"/>
                </a:solidFill>
                <a:latin typeface="Yu Gothic"/>
                <a:ea typeface="Yu Gothic"/>
              </a:rPr>
              <a:t>まず黄色区域の登記だけ取る</a:t>
            </a:r>
            <a:r>
              <a:rPr sz="960" b="0">
                <a:solidFill>
                  <a:srgbClr val="1D2421"/>
                </a:solidFill>
                <a:latin typeface="Yu Gothic"/>
                <a:ea typeface="Yu Gothic"/>
              </a:rPr>
              <a:t>（数千円・数日）。坂本さん名義の範囲が分かれば、新1〜3案のどれが現実的か判断できる。</a:t>
            </a:r>
          </a:p>
          <a:p>
            <a:pPr algn="l">
              <a:lnSpc>
                <a:spcPct val="130500"/>
              </a:lnSpc>
            </a:pPr>
            <a:r>
              <a:rPr sz="960" b="0">
                <a:solidFill>
                  <a:srgbClr val="1D2421"/>
                </a:solidFill>
                <a:latin typeface="Yu Gothic"/>
                <a:ea typeface="Yu Gothic"/>
              </a:rPr>
              <a:t>・坂本さんとは売買の話を急がず、境界立会いへの協力と、将来の賃貸・通行承諾の可能性を丁寧に確認。</a:t>
            </a:r>
          </a:p>
          <a:p>
            <a:pPr algn="l">
              <a:lnSpc>
                <a:spcPct val="130500"/>
              </a:lnSpc>
            </a:pPr>
            <a:r>
              <a:rPr sz="960" b="0">
                <a:solidFill>
                  <a:srgbClr val="1D2421"/>
                </a:solidFill>
                <a:latin typeface="Yu Gothic"/>
                <a:ea typeface="Yu Gothic"/>
              </a:rPr>
              <a:t>・第1期は北段のみ（新1案）＋移動式チッパーで試験操業し、販売実績を作ってから中段へ拡張。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64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付録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44000" y="306000"/>
            <a:ext cx="2844000" cy="216000"/>
          </a:xfrm>
          <a:prstGeom prst="rect">
            <a:avLst/>
          </a:prstGeom>
          <a:solidFill>
            <a:srgbClr val="B3261E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800" b="1">
                <a:solidFill>
                  <a:srgbClr val="FFFFFF"/>
                </a:solidFill>
                <a:latin typeface="Yu Gothic"/>
                <a:ea typeface="Yu Gothic"/>
              </a:rPr>
              <a:t>第2版：坂本さん所有地を取得対象から除外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000" y="522000"/>
            <a:ext cx="9684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現場写真一覧（撮影位置は推定・信頼度B／下帯＝写っている土地の取得区分）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4000" y="7200000"/>
            <a:ext cx="79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土地取得・開発検討資料（第2版 2026年10月）｜協議用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24 / 26</a:t>
            </a:r>
          </a:p>
        </p:txBody>
      </p:sp>
      <p:pic>
        <p:nvPicPr>
          <p:cNvPr id="9" name="Picture 8" descr="P01.jpg"/>
          <p:cNvPicPr>
            <a:picLocks noChangeAspect="1"/>
          </p:cNvPicPr>
          <p:nvPr/>
        </p:nvPicPr>
        <p:blipFill>
          <a:blip r:embed="rId2"/>
          <a:srcRect t="24038" b="24038"/>
          <a:stretch>
            <a:fillRect/>
          </a:stretch>
        </p:blipFill>
        <p:spPr>
          <a:xfrm>
            <a:off x="504000" y="1188000"/>
            <a:ext cx="1872000" cy="1296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58000" y="1242000"/>
            <a:ext cx="288000" cy="21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8000" y="1249200"/>
            <a:ext cx="288000" cy="20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000" y="2268000"/>
            <a:ext cx="1872000" cy="216000"/>
          </a:xfrm>
          <a:prstGeom prst="rect">
            <a:avLst/>
          </a:prstGeom>
          <a:solidFill>
            <a:srgbClr val="8A6D00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700" b="1">
                <a:solidFill>
                  <a:srgbClr val="FFFFFF"/>
                </a:solidFill>
                <a:latin typeface="Yu Gothic"/>
                <a:ea typeface="Yu Gothic"/>
              </a:rPr>
              <a:t>要確認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000" y="2520000"/>
            <a:ext cx="187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450"/>
              </a:lnSpc>
            </a:pPr>
            <a:r>
              <a:rPr sz="720" b="1">
                <a:solidFill>
                  <a:srgbClr val="1D2421"/>
                </a:solidFill>
                <a:latin typeface="Yu Gothic"/>
                <a:ea typeface="Yu Gothic"/>
              </a:rPr>
              <a:t>県道（北側）から棚田と敷地奥を望む</a:t>
            </a:r>
          </a:p>
          <a:p>
            <a:pPr algn="l">
              <a:lnSpc>
                <a:spcPct val="117450"/>
              </a:lnSpc>
            </a:pPr>
            <a:r>
              <a:rPr sz="720" b="0">
                <a:solidFill>
                  <a:srgbClr val="1D2421"/>
                </a:solidFill>
                <a:latin typeface="Yu Gothic"/>
                <a:ea typeface="Yu Gothic"/>
              </a:rPr>
              <a:t>① 周辺道路｜方向 約125°</a:t>
            </a:r>
          </a:p>
        </p:txBody>
      </p:sp>
      <p:pic>
        <p:nvPicPr>
          <p:cNvPr id="14" name="Picture 13" descr="P02.jpg"/>
          <p:cNvPicPr>
            <a:picLocks noChangeAspect="1"/>
          </p:cNvPicPr>
          <p:nvPr/>
        </p:nvPicPr>
        <p:blipFill>
          <a:blip r:embed="rId3"/>
          <a:srcRect t="24038" b="24038"/>
          <a:stretch>
            <a:fillRect/>
          </a:stretch>
        </p:blipFill>
        <p:spPr>
          <a:xfrm>
            <a:off x="2448000" y="1188000"/>
            <a:ext cx="1872000" cy="12960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2502000" y="1242000"/>
            <a:ext cx="288000" cy="21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02000" y="1249200"/>
            <a:ext cx="288000" cy="20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8000" y="2268000"/>
            <a:ext cx="1872000" cy="216000"/>
          </a:xfrm>
          <a:prstGeom prst="rect">
            <a:avLst/>
          </a:prstGeom>
          <a:solidFill>
            <a:srgbClr val="C62828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700" b="1">
                <a:solidFill>
                  <a:srgbClr val="FFFFFF"/>
                </a:solidFill>
                <a:latin typeface="Yu Gothic"/>
                <a:ea typeface="Yu Gothic"/>
              </a:rPr>
              <a:t>対象外（坂本さん所有地）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8000" y="2520000"/>
            <a:ext cx="187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450"/>
              </a:lnSpc>
            </a:pPr>
            <a:r>
              <a:rPr sz="720" b="1">
                <a:solidFill>
                  <a:srgbClr val="1D2421"/>
                </a:solidFill>
                <a:latin typeface="Yu Gothic"/>
                <a:ea typeface="Yu Gothic"/>
              </a:rPr>
              <a:t>県道沿い南西角（標識付近）から敷地を見る</a:t>
            </a:r>
          </a:p>
          <a:p>
            <a:pPr algn="l">
              <a:lnSpc>
                <a:spcPct val="117450"/>
              </a:lnSpc>
            </a:pPr>
            <a:r>
              <a:rPr sz="720" b="0">
                <a:solidFill>
                  <a:srgbClr val="1D2421"/>
                </a:solidFill>
                <a:latin typeface="Yu Gothic"/>
                <a:ea typeface="Yu Gothic"/>
              </a:rPr>
              <a:t>① 周辺道路｜方向 約30°</a:t>
            </a:r>
          </a:p>
        </p:txBody>
      </p:sp>
      <p:pic>
        <p:nvPicPr>
          <p:cNvPr id="19" name="Picture 18" descr="P03.jpg"/>
          <p:cNvPicPr>
            <a:picLocks noChangeAspect="1"/>
          </p:cNvPicPr>
          <p:nvPr/>
        </p:nvPicPr>
        <p:blipFill>
          <a:blip r:embed="rId4"/>
          <a:srcRect t="3846" b="3846"/>
          <a:stretch>
            <a:fillRect/>
          </a:stretch>
        </p:blipFill>
        <p:spPr>
          <a:xfrm>
            <a:off x="4392000" y="1188000"/>
            <a:ext cx="1872000" cy="12960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4446000" y="1242000"/>
            <a:ext cx="288000" cy="21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46000" y="1249200"/>
            <a:ext cx="288000" cy="20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2000" y="2268000"/>
            <a:ext cx="1872000" cy="216000"/>
          </a:xfrm>
          <a:prstGeom prst="rect">
            <a:avLst/>
          </a:prstGeom>
          <a:solidFill>
            <a:srgbClr val="C62828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700" b="1">
                <a:solidFill>
                  <a:srgbClr val="FFFFFF"/>
                </a:solidFill>
                <a:latin typeface="Yu Gothic"/>
                <a:ea typeface="Yu Gothic"/>
              </a:rPr>
              <a:t>対象外（坂本さん所有地）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2000" y="2520000"/>
            <a:ext cx="187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450"/>
              </a:lnSpc>
            </a:pPr>
            <a:r>
              <a:rPr sz="720" b="1">
                <a:solidFill>
                  <a:srgbClr val="1D2421"/>
                </a:solidFill>
                <a:latin typeface="Yu Gothic"/>
                <a:ea typeface="Yu Gothic"/>
              </a:rPr>
              <a:t>脇道から県道・対面ヤード方向を見る</a:t>
            </a:r>
          </a:p>
          <a:p>
            <a:pPr algn="l">
              <a:lnSpc>
                <a:spcPct val="117450"/>
              </a:lnSpc>
            </a:pPr>
            <a:r>
              <a:rPr sz="720" b="0">
                <a:solidFill>
                  <a:srgbClr val="1D2421"/>
                </a:solidFill>
                <a:latin typeface="Yu Gothic"/>
                <a:ea typeface="Yu Gothic"/>
              </a:rPr>
              <a:t>② 進入路｜方向 約290°</a:t>
            </a:r>
          </a:p>
        </p:txBody>
      </p:sp>
      <p:pic>
        <p:nvPicPr>
          <p:cNvPr id="24" name="Picture 23" descr="P04.jpg"/>
          <p:cNvPicPr>
            <a:picLocks noChangeAspect="1"/>
          </p:cNvPicPr>
          <p:nvPr/>
        </p:nvPicPr>
        <p:blipFill>
          <a:blip r:embed="rId5"/>
          <a:srcRect t="3846" b="3846"/>
          <a:stretch>
            <a:fillRect/>
          </a:stretch>
        </p:blipFill>
        <p:spPr>
          <a:xfrm>
            <a:off x="6336000" y="1188000"/>
            <a:ext cx="1872000" cy="129600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390000" y="1242000"/>
            <a:ext cx="288000" cy="21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0000" y="1249200"/>
            <a:ext cx="288000" cy="20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000" y="2268000"/>
            <a:ext cx="1872000" cy="216000"/>
          </a:xfrm>
          <a:prstGeom prst="rect">
            <a:avLst/>
          </a:prstGeom>
          <a:solidFill>
            <a:srgbClr val="C62828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700" b="1">
                <a:solidFill>
                  <a:srgbClr val="FFFFFF"/>
                </a:solidFill>
                <a:latin typeface="Yu Gothic"/>
                <a:ea typeface="Yu Gothic"/>
              </a:rPr>
              <a:t>対象外（坂本さん所有地）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000" y="2520000"/>
            <a:ext cx="187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450"/>
              </a:lnSpc>
            </a:pPr>
            <a:r>
              <a:rPr sz="720" b="1">
                <a:solidFill>
                  <a:srgbClr val="1D2421"/>
                </a:solidFill>
                <a:latin typeface="Yu Gothic"/>
                <a:ea typeface="Yu Gothic"/>
              </a:rPr>
              <a:t>県道×脇道の交差部から敷地全景</a:t>
            </a:r>
          </a:p>
          <a:p>
            <a:pPr algn="l">
              <a:lnSpc>
                <a:spcPct val="117450"/>
              </a:lnSpc>
            </a:pPr>
            <a:r>
              <a:rPr sz="720" b="0">
                <a:solidFill>
                  <a:srgbClr val="1D2421"/>
                </a:solidFill>
                <a:latin typeface="Yu Gothic"/>
                <a:ea typeface="Yu Gothic"/>
              </a:rPr>
              <a:t>③ 敷地入口｜方向 約40°</a:t>
            </a:r>
          </a:p>
        </p:txBody>
      </p:sp>
      <p:pic>
        <p:nvPicPr>
          <p:cNvPr id="29" name="Picture 28" descr="P05.jpg"/>
          <p:cNvPicPr>
            <a:picLocks noChangeAspect="1"/>
          </p:cNvPicPr>
          <p:nvPr/>
        </p:nvPicPr>
        <p:blipFill>
          <a:blip r:embed="rId6"/>
          <a:srcRect t="24038" b="24038"/>
          <a:stretch>
            <a:fillRect/>
          </a:stretch>
        </p:blipFill>
        <p:spPr>
          <a:xfrm>
            <a:off x="8280000" y="1188000"/>
            <a:ext cx="1872000" cy="129600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8334000" y="1242000"/>
            <a:ext cx="288000" cy="21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4000" y="1249200"/>
            <a:ext cx="288000" cy="20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0000" y="2268000"/>
            <a:ext cx="1872000" cy="216000"/>
          </a:xfrm>
          <a:prstGeom prst="rect">
            <a:avLst/>
          </a:prstGeom>
          <a:solidFill>
            <a:srgbClr val="C62828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700" b="1">
                <a:solidFill>
                  <a:srgbClr val="FFFFFF"/>
                </a:solidFill>
                <a:latin typeface="Yu Gothic"/>
                <a:ea typeface="Yu Gothic"/>
              </a:rPr>
              <a:t>対象外（坂本さん所有地）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0000" y="2520000"/>
            <a:ext cx="187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450"/>
              </a:lnSpc>
            </a:pPr>
            <a:r>
              <a:rPr sz="720" b="1">
                <a:solidFill>
                  <a:srgbClr val="1D2421"/>
                </a:solidFill>
                <a:latin typeface="Yu Gothic"/>
                <a:ea typeface="Yu Gothic"/>
              </a:rPr>
              <a:t>脇道沿い：石積み段差と投棄物</a:t>
            </a:r>
          </a:p>
          <a:p>
            <a:pPr algn="l">
              <a:lnSpc>
                <a:spcPct val="117450"/>
              </a:lnSpc>
            </a:pPr>
            <a:r>
              <a:rPr sz="720" b="0">
                <a:solidFill>
                  <a:srgbClr val="1D2421"/>
                </a:solidFill>
                <a:latin typeface="Yu Gothic"/>
                <a:ea typeface="Yu Gothic"/>
              </a:rPr>
              <a:t>④ 敷地手前｜方向 約20°</a:t>
            </a:r>
          </a:p>
        </p:txBody>
      </p:sp>
      <p:pic>
        <p:nvPicPr>
          <p:cNvPr id="34" name="Picture 33" descr="P06.jpg"/>
          <p:cNvPicPr>
            <a:picLocks noChangeAspect="1"/>
          </p:cNvPicPr>
          <p:nvPr/>
        </p:nvPicPr>
        <p:blipFill>
          <a:blip r:embed="rId7"/>
          <a:srcRect t="3846" b="3846"/>
          <a:stretch>
            <a:fillRect/>
          </a:stretch>
        </p:blipFill>
        <p:spPr>
          <a:xfrm>
            <a:off x="504000" y="3168000"/>
            <a:ext cx="1872000" cy="1296000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558000" y="3222000"/>
            <a:ext cx="288000" cy="21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8000" y="3229200"/>
            <a:ext cx="288000" cy="20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000" y="4248000"/>
            <a:ext cx="1872000" cy="216000"/>
          </a:xfrm>
          <a:prstGeom prst="rect">
            <a:avLst/>
          </a:prstGeom>
          <a:solidFill>
            <a:srgbClr val="C62828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700" b="1">
                <a:solidFill>
                  <a:srgbClr val="FFFFFF"/>
                </a:solidFill>
                <a:latin typeface="Yu Gothic"/>
                <a:ea typeface="Yu Gothic"/>
              </a:rPr>
              <a:t>対象外（坂本さん所有地）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000" y="4500000"/>
            <a:ext cx="187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450"/>
              </a:lnSpc>
            </a:pPr>
            <a:r>
              <a:rPr sz="720" b="1">
                <a:solidFill>
                  <a:srgbClr val="1D2421"/>
                </a:solidFill>
                <a:latin typeface="Yu Gothic"/>
                <a:ea typeface="Yu Gothic"/>
              </a:rPr>
              <a:t>石積みの段差（約1.5〜2m程度に見える）と東側住宅</a:t>
            </a:r>
          </a:p>
          <a:p>
            <a:pPr algn="l">
              <a:lnSpc>
                <a:spcPct val="117450"/>
              </a:lnSpc>
            </a:pPr>
            <a:r>
              <a:rPr sz="720" b="0">
                <a:solidFill>
                  <a:srgbClr val="1D2421"/>
                </a:solidFill>
                <a:latin typeface="Yu Gothic"/>
                <a:ea typeface="Yu Gothic"/>
              </a:rPr>
              <a:t>④ 敷地手前｜方向 約50°</a:t>
            </a:r>
          </a:p>
        </p:txBody>
      </p:sp>
      <p:pic>
        <p:nvPicPr>
          <p:cNvPr id="39" name="Picture 38" descr="P07.jpg"/>
          <p:cNvPicPr>
            <a:picLocks noChangeAspect="1"/>
          </p:cNvPicPr>
          <p:nvPr/>
        </p:nvPicPr>
        <p:blipFill>
          <a:blip r:embed="rId8"/>
          <a:srcRect t="3846" b="3846"/>
          <a:stretch>
            <a:fillRect/>
          </a:stretch>
        </p:blipFill>
        <p:spPr>
          <a:xfrm>
            <a:off x="2448000" y="3168000"/>
            <a:ext cx="1872000" cy="1296000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2502000" y="3222000"/>
            <a:ext cx="288000" cy="21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02000" y="3229200"/>
            <a:ext cx="288000" cy="20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48000" y="4248000"/>
            <a:ext cx="1872000" cy="216000"/>
          </a:xfrm>
          <a:prstGeom prst="rect">
            <a:avLst/>
          </a:prstGeom>
          <a:solidFill>
            <a:srgbClr val="C62828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700" b="1">
                <a:solidFill>
                  <a:srgbClr val="FFFFFF"/>
                </a:solidFill>
                <a:latin typeface="Yu Gothic"/>
                <a:ea typeface="Yu Gothic"/>
              </a:rPr>
              <a:t>対象外（坂本さん所有地）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48000" y="4500000"/>
            <a:ext cx="187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450"/>
              </a:lnSpc>
            </a:pPr>
            <a:r>
              <a:rPr sz="720" b="1">
                <a:solidFill>
                  <a:srgbClr val="1D2421"/>
                </a:solidFill>
                <a:latin typeface="Yu Gothic"/>
                <a:ea typeface="Yu Gothic"/>
              </a:rPr>
              <a:t>下段田面を北向きに見る</a:t>
            </a:r>
          </a:p>
          <a:p>
            <a:pPr algn="l">
              <a:lnSpc>
                <a:spcPct val="117450"/>
              </a:lnSpc>
            </a:pPr>
            <a:r>
              <a:rPr sz="720" b="0">
                <a:solidFill>
                  <a:srgbClr val="1D2421"/>
                </a:solidFill>
                <a:latin typeface="Yu Gothic"/>
                <a:ea typeface="Yu Gothic"/>
              </a:rPr>
              <a:t>⑤ 敷地中央｜方向 約345°</a:t>
            </a:r>
          </a:p>
        </p:txBody>
      </p:sp>
      <p:pic>
        <p:nvPicPr>
          <p:cNvPr id="44" name="Picture 43" descr="P08.jpg"/>
          <p:cNvPicPr>
            <a:picLocks noChangeAspect="1"/>
          </p:cNvPicPr>
          <p:nvPr/>
        </p:nvPicPr>
        <p:blipFill>
          <a:blip r:embed="rId9"/>
          <a:srcRect t="3846" b="3846"/>
          <a:stretch>
            <a:fillRect/>
          </a:stretch>
        </p:blipFill>
        <p:spPr>
          <a:xfrm>
            <a:off x="4392000" y="3168000"/>
            <a:ext cx="1872000" cy="1296000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4446000" y="3222000"/>
            <a:ext cx="288000" cy="21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46000" y="3229200"/>
            <a:ext cx="288000" cy="20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92000" y="4248000"/>
            <a:ext cx="1872000" cy="216000"/>
          </a:xfrm>
          <a:prstGeom prst="rect">
            <a:avLst/>
          </a:prstGeom>
          <a:solidFill>
            <a:srgbClr val="C62828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700" b="1">
                <a:solidFill>
                  <a:srgbClr val="FFFFFF"/>
                </a:solidFill>
                <a:latin typeface="Yu Gothic"/>
                <a:ea typeface="Yu Gothic"/>
              </a:rPr>
              <a:t>対象外（坂本さん所有地）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92000" y="4500000"/>
            <a:ext cx="187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450"/>
              </a:lnSpc>
            </a:pPr>
            <a:r>
              <a:rPr sz="720" b="1">
                <a:solidFill>
                  <a:srgbClr val="1D2421"/>
                </a:solidFill>
                <a:latin typeface="Yu Gothic"/>
                <a:ea typeface="Yu Gothic"/>
              </a:rPr>
              <a:t>脇道から北向きに敷地全景</a:t>
            </a:r>
          </a:p>
          <a:p>
            <a:pPr algn="l">
              <a:lnSpc>
                <a:spcPct val="117450"/>
              </a:lnSpc>
            </a:pPr>
            <a:r>
              <a:rPr sz="720" b="0">
                <a:solidFill>
                  <a:srgbClr val="1D2421"/>
                </a:solidFill>
                <a:latin typeface="Yu Gothic"/>
                <a:ea typeface="Yu Gothic"/>
              </a:rPr>
              <a:t>⑤ 敷地中央｜方向 約330°</a:t>
            </a:r>
          </a:p>
        </p:txBody>
      </p:sp>
      <p:pic>
        <p:nvPicPr>
          <p:cNvPr id="49" name="Picture 48" descr="P09.jpg"/>
          <p:cNvPicPr>
            <a:picLocks noChangeAspect="1"/>
          </p:cNvPicPr>
          <p:nvPr/>
        </p:nvPicPr>
        <p:blipFill>
          <a:blip r:embed="rId10"/>
          <a:srcRect t="3846" b="3846"/>
          <a:stretch>
            <a:fillRect/>
          </a:stretch>
        </p:blipFill>
        <p:spPr>
          <a:xfrm>
            <a:off x="6336000" y="3168000"/>
            <a:ext cx="1872000" cy="1296000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6390000" y="3222000"/>
            <a:ext cx="288000" cy="21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90000" y="3229200"/>
            <a:ext cx="288000" cy="20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36000" y="4248000"/>
            <a:ext cx="1872000" cy="216000"/>
          </a:xfrm>
          <a:prstGeom prst="rect">
            <a:avLst/>
          </a:prstGeom>
          <a:solidFill>
            <a:srgbClr val="2E7D32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700" b="1">
                <a:solidFill>
                  <a:srgbClr val="FFFFFF"/>
                </a:solidFill>
                <a:latin typeface="Yu Gothic"/>
                <a:ea typeface="Yu Gothic"/>
              </a:rPr>
              <a:t>取得検討対象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36000" y="4500000"/>
            <a:ext cx="187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450"/>
              </a:lnSpc>
            </a:pPr>
            <a:r>
              <a:rPr sz="720" b="1">
                <a:solidFill>
                  <a:srgbClr val="1D2421"/>
                </a:solidFill>
                <a:latin typeface="Yu Gothic"/>
                <a:ea typeface="Yu Gothic"/>
              </a:rPr>
              <a:t>脇道東端から北西に敷地全景</a:t>
            </a:r>
          </a:p>
          <a:p>
            <a:pPr algn="l">
              <a:lnSpc>
                <a:spcPct val="117450"/>
              </a:lnSpc>
            </a:pPr>
            <a:r>
              <a:rPr sz="720" b="0">
                <a:solidFill>
                  <a:srgbClr val="1D2421"/>
                </a:solidFill>
                <a:latin typeface="Yu Gothic"/>
                <a:ea typeface="Yu Gothic"/>
              </a:rPr>
              <a:t>⑤ 敷地中央｜方向 約295°</a:t>
            </a:r>
          </a:p>
        </p:txBody>
      </p:sp>
      <p:pic>
        <p:nvPicPr>
          <p:cNvPr id="54" name="Picture 53" descr="P10.jpg"/>
          <p:cNvPicPr>
            <a:picLocks noChangeAspect="1"/>
          </p:cNvPicPr>
          <p:nvPr/>
        </p:nvPicPr>
        <p:blipFill>
          <a:blip r:embed="rId11"/>
          <a:srcRect t="3846" b="3846"/>
          <a:stretch>
            <a:fillRect/>
          </a:stretch>
        </p:blipFill>
        <p:spPr>
          <a:xfrm>
            <a:off x="8280000" y="3168000"/>
            <a:ext cx="1872000" cy="1296000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8334000" y="3222000"/>
            <a:ext cx="288000" cy="21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34000" y="3229200"/>
            <a:ext cx="288000" cy="20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80000" y="4248000"/>
            <a:ext cx="1872000" cy="216000"/>
          </a:xfrm>
          <a:prstGeom prst="rect">
            <a:avLst/>
          </a:prstGeom>
          <a:solidFill>
            <a:srgbClr val="8A6D00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700" b="1">
                <a:solidFill>
                  <a:srgbClr val="FFFFFF"/>
                </a:solidFill>
                <a:latin typeface="Yu Gothic"/>
                <a:ea typeface="Yu Gothic"/>
              </a:rPr>
              <a:t>要確認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80000" y="4500000"/>
            <a:ext cx="187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450"/>
              </a:lnSpc>
            </a:pPr>
            <a:r>
              <a:rPr sz="720" b="1">
                <a:solidFill>
                  <a:srgbClr val="1D2421"/>
                </a:solidFill>
                <a:latin typeface="Yu Gothic"/>
                <a:ea typeface="Yu Gothic"/>
              </a:rPr>
              <a:t>水路沿いに西（県道方向）を見る</a:t>
            </a:r>
          </a:p>
          <a:p>
            <a:pPr algn="l">
              <a:lnSpc>
                <a:spcPct val="117450"/>
              </a:lnSpc>
            </a:pPr>
            <a:r>
              <a:rPr sz="720" b="0">
                <a:solidFill>
                  <a:srgbClr val="1D2421"/>
                </a:solidFill>
                <a:latin typeface="Yu Gothic"/>
                <a:ea typeface="Yu Gothic"/>
              </a:rPr>
              <a:t>⑥ 敷地奥｜方向 約230°</a:t>
            </a:r>
          </a:p>
        </p:txBody>
      </p:sp>
      <p:pic>
        <p:nvPicPr>
          <p:cNvPr id="59" name="Picture 58" descr="P11.jpg"/>
          <p:cNvPicPr>
            <a:picLocks noChangeAspect="1"/>
          </p:cNvPicPr>
          <p:nvPr/>
        </p:nvPicPr>
        <p:blipFill>
          <a:blip r:embed="rId12"/>
          <a:srcRect t="3846" b="3846"/>
          <a:stretch>
            <a:fillRect/>
          </a:stretch>
        </p:blipFill>
        <p:spPr>
          <a:xfrm>
            <a:off x="504000" y="5148000"/>
            <a:ext cx="1872000" cy="1296000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>
            <a:off x="558000" y="5202000"/>
            <a:ext cx="288000" cy="21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8000" y="5209200"/>
            <a:ext cx="288000" cy="20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11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4000" y="6228000"/>
            <a:ext cx="1872000" cy="216000"/>
          </a:xfrm>
          <a:prstGeom prst="rect">
            <a:avLst/>
          </a:prstGeom>
          <a:solidFill>
            <a:srgbClr val="2E7D32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700" b="1">
                <a:solidFill>
                  <a:srgbClr val="FFFFFF"/>
                </a:solidFill>
                <a:latin typeface="Yu Gothic"/>
                <a:ea typeface="Yu Gothic"/>
              </a:rPr>
              <a:t>取得検討対象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4000" y="6480000"/>
            <a:ext cx="187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450"/>
              </a:lnSpc>
            </a:pPr>
            <a:r>
              <a:rPr sz="720" b="1">
                <a:solidFill>
                  <a:srgbClr val="1D2421"/>
                </a:solidFill>
                <a:latin typeface="Yu Gothic"/>
                <a:ea typeface="Yu Gothic"/>
              </a:rPr>
              <a:t>上段から南西を俯瞰</a:t>
            </a:r>
          </a:p>
          <a:p>
            <a:pPr algn="l">
              <a:lnSpc>
                <a:spcPct val="117450"/>
              </a:lnSpc>
            </a:pPr>
            <a:r>
              <a:rPr sz="720" b="0">
                <a:solidFill>
                  <a:srgbClr val="1D2421"/>
                </a:solidFill>
                <a:latin typeface="Yu Gothic"/>
                <a:ea typeface="Yu Gothic"/>
              </a:rPr>
              <a:t>⑥ 敷地奥｜方向 約220°</a:t>
            </a:r>
          </a:p>
        </p:txBody>
      </p:sp>
      <p:pic>
        <p:nvPicPr>
          <p:cNvPr id="64" name="Picture 63" descr="P12.jpg"/>
          <p:cNvPicPr>
            <a:picLocks noChangeAspect="1"/>
          </p:cNvPicPr>
          <p:nvPr/>
        </p:nvPicPr>
        <p:blipFill>
          <a:blip r:embed="rId13"/>
          <a:srcRect t="3846" b="3846"/>
          <a:stretch>
            <a:fillRect/>
          </a:stretch>
        </p:blipFill>
        <p:spPr>
          <a:xfrm>
            <a:off x="2448000" y="5148000"/>
            <a:ext cx="1872000" cy="1296000"/>
          </a:xfrm>
          <a:prstGeom prst="rect">
            <a:avLst/>
          </a:prstGeom>
        </p:spPr>
      </p:pic>
      <p:sp>
        <p:nvSpPr>
          <p:cNvPr id="65" name="Rounded Rectangle 64"/>
          <p:cNvSpPr/>
          <p:nvPr/>
        </p:nvSpPr>
        <p:spPr>
          <a:xfrm>
            <a:off x="2502000" y="5202000"/>
            <a:ext cx="288000" cy="21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502000" y="5209200"/>
            <a:ext cx="288000" cy="20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12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448000" y="6228000"/>
            <a:ext cx="1872000" cy="216000"/>
          </a:xfrm>
          <a:prstGeom prst="rect">
            <a:avLst/>
          </a:prstGeom>
          <a:solidFill>
            <a:srgbClr val="2E7D32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700" b="1">
                <a:solidFill>
                  <a:srgbClr val="FFFFFF"/>
                </a:solidFill>
                <a:latin typeface="Yu Gothic"/>
                <a:ea typeface="Yu Gothic"/>
              </a:rPr>
              <a:t>取得検討対象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448000" y="6480000"/>
            <a:ext cx="187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450"/>
              </a:lnSpc>
            </a:pPr>
            <a:r>
              <a:rPr sz="720" b="1">
                <a:solidFill>
                  <a:srgbClr val="1D2421"/>
                </a:solidFill>
                <a:latin typeface="Yu Gothic"/>
                <a:ea typeface="Yu Gothic"/>
              </a:rPr>
              <a:t>上段から西（県道・対面ヤード）を俯瞰</a:t>
            </a:r>
          </a:p>
          <a:p>
            <a:pPr algn="l">
              <a:lnSpc>
                <a:spcPct val="117450"/>
              </a:lnSpc>
            </a:pPr>
            <a:r>
              <a:rPr sz="720" b="0">
                <a:solidFill>
                  <a:srgbClr val="1D2421"/>
                </a:solidFill>
                <a:latin typeface="Yu Gothic"/>
                <a:ea typeface="Yu Gothic"/>
              </a:rPr>
              <a:t>⑥ 敷地奥｜方向 約250°</a:t>
            </a:r>
          </a:p>
        </p:txBody>
      </p:sp>
      <p:pic>
        <p:nvPicPr>
          <p:cNvPr id="69" name="Picture 68" descr="P13.jpg"/>
          <p:cNvPicPr>
            <a:picLocks noChangeAspect="1"/>
          </p:cNvPicPr>
          <p:nvPr/>
        </p:nvPicPr>
        <p:blipFill>
          <a:blip r:embed="rId14"/>
          <a:srcRect t="24038" b="24038"/>
          <a:stretch>
            <a:fillRect/>
          </a:stretch>
        </p:blipFill>
        <p:spPr>
          <a:xfrm>
            <a:off x="4392000" y="5148000"/>
            <a:ext cx="1872000" cy="1296000"/>
          </a:xfrm>
          <a:prstGeom prst="rect">
            <a:avLst/>
          </a:prstGeom>
        </p:spPr>
      </p:pic>
      <p:sp>
        <p:nvSpPr>
          <p:cNvPr id="70" name="Rounded Rectangle 69"/>
          <p:cNvSpPr/>
          <p:nvPr/>
        </p:nvSpPr>
        <p:spPr>
          <a:xfrm>
            <a:off x="4446000" y="5202000"/>
            <a:ext cx="288000" cy="21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446000" y="5209200"/>
            <a:ext cx="288000" cy="20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13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92000" y="6228000"/>
            <a:ext cx="1872000" cy="216000"/>
          </a:xfrm>
          <a:prstGeom prst="rect">
            <a:avLst/>
          </a:prstGeom>
          <a:solidFill>
            <a:srgbClr val="2E7D32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700" b="1">
                <a:solidFill>
                  <a:srgbClr val="FFFFFF"/>
                </a:solidFill>
                <a:latin typeface="Yu Gothic"/>
                <a:ea typeface="Yu Gothic"/>
              </a:rPr>
              <a:t>取得検討対象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92000" y="6480000"/>
            <a:ext cx="187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450"/>
              </a:lnSpc>
            </a:pPr>
            <a:r>
              <a:rPr sz="720" b="1">
                <a:solidFill>
                  <a:srgbClr val="1D2421"/>
                </a:solidFill>
                <a:latin typeface="Yu Gothic"/>
                <a:ea typeface="Yu Gothic"/>
              </a:rPr>
              <a:t>上段（東端）から南向き：住宅・重機方向</a:t>
            </a:r>
          </a:p>
          <a:p>
            <a:pPr algn="l">
              <a:lnSpc>
                <a:spcPct val="117450"/>
              </a:lnSpc>
            </a:pPr>
            <a:r>
              <a:rPr sz="720" b="0">
                <a:solidFill>
                  <a:srgbClr val="1D2421"/>
                </a:solidFill>
                <a:latin typeface="Yu Gothic"/>
                <a:ea typeface="Yu Gothic"/>
              </a:rPr>
              <a:t>⑦ 既存建物｜方向 約175°</a:t>
            </a:r>
          </a:p>
        </p:txBody>
      </p:sp>
      <p:pic>
        <p:nvPicPr>
          <p:cNvPr id="74" name="Picture 73" descr="P14.jpg"/>
          <p:cNvPicPr>
            <a:picLocks noChangeAspect="1"/>
          </p:cNvPicPr>
          <p:nvPr/>
        </p:nvPicPr>
        <p:blipFill>
          <a:blip r:embed="rId15"/>
          <a:srcRect t="24038" b="24038"/>
          <a:stretch>
            <a:fillRect/>
          </a:stretch>
        </p:blipFill>
        <p:spPr>
          <a:xfrm>
            <a:off x="6336000" y="5148000"/>
            <a:ext cx="1872000" cy="1296000"/>
          </a:xfrm>
          <a:prstGeom prst="rect">
            <a:avLst/>
          </a:prstGeom>
        </p:spPr>
      </p:pic>
      <p:sp>
        <p:nvSpPr>
          <p:cNvPr id="75" name="Rounded Rectangle 74"/>
          <p:cNvSpPr/>
          <p:nvPr/>
        </p:nvSpPr>
        <p:spPr>
          <a:xfrm>
            <a:off x="6390000" y="5202000"/>
            <a:ext cx="288000" cy="21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90000" y="5209200"/>
            <a:ext cx="288000" cy="20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14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36000" y="6228000"/>
            <a:ext cx="1872000" cy="216000"/>
          </a:xfrm>
          <a:prstGeom prst="rect">
            <a:avLst/>
          </a:prstGeom>
          <a:solidFill>
            <a:srgbClr val="2E7D32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700" b="1">
                <a:solidFill>
                  <a:srgbClr val="FFFFFF"/>
                </a:solidFill>
                <a:latin typeface="Yu Gothic"/>
                <a:ea typeface="Yu Gothic"/>
              </a:rPr>
              <a:t>取得検討対象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36000" y="6480000"/>
            <a:ext cx="187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450"/>
              </a:lnSpc>
            </a:pPr>
            <a:r>
              <a:rPr sz="720" b="1">
                <a:solidFill>
                  <a:srgbClr val="1D2421"/>
                </a:solidFill>
                <a:latin typeface="Yu Gothic"/>
                <a:ea typeface="Yu Gothic"/>
              </a:rPr>
              <a:t>上段から南向き：住宅・倉庫・県道</a:t>
            </a:r>
          </a:p>
          <a:p>
            <a:pPr algn="l">
              <a:lnSpc>
                <a:spcPct val="117450"/>
              </a:lnSpc>
            </a:pPr>
            <a:r>
              <a:rPr sz="720" b="0">
                <a:solidFill>
                  <a:srgbClr val="1D2421"/>
                </a:solidFill>
                <a:latin typeface="Yu Gothic"/>
                <a:ea typeface="Yu Gothic"/>
              </a:rPr>
              <a:t>⑦ 既存建物｜方向 約185°</a:t>
            </a:r>
          </a:p>
        </p:txBody>
      </p:sp>
      <p:pic>
        <p:nvPicPr>
          <p:cNvPr id="79" name="Picture 78" descr="P15.jpg"/>
          <p:cNvPicPr>
            <a:picLocks noChangeAspect="1"/>
          </p:cNvPicPr>
          <p:nvPr/>
        </p:nvPicPr>
        <p:blipFill>
          <a:blip r:embed="rId16"/>
          <a:srcRect t="3846" b="3846"/>
          <a:stretch>
            <a:fillRect/>
          </a:stretch>
        </p:blipFill>
        <p:spPr>
          <a:xfrm>
            <a:off x="8280000" y="5148000"/>
            <a:ext cx="1872000" cy="1296000"/>
          </a:xfrm>
          <a:prstGeom prst="rect">
            <a:avLst/>
          </a:prstGeom>
        </p:spPr>
      </p:pic>
      <p:sp>
        <p:nvSpPr>
          <p:cNvPr id="80" name="Rounded Rectangle 79"/>
          <p:cNvSpPr/>
          <p:nvPr/>
        </p:nvSpPr>
        <p:spPr>
          <a:xfrm>
            <a:off x="8334000" y="5202000"/>
            <a:ext cx="288000" cy="21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334000" y="5209200"/>
            <a:ext cx="288000" cy="20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15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80000" y="6228000"/>
            <a:ext cx="1872000" cy="216000"/>
          </a:xfrm>
          <a:prstGeom prst="rect">
            <a:avLst/>
          </a:prstGeom>
          <a:solidFill>
            <a:srgbClr val="8A6D00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700" b="1">
                <a:solidFill>
                  <a:srgbClr val="FFFFFF"/>
                </a:solidFill>
                <a:latin typeface="Yu Gothic"/>
                <a:ea typeface="Yu Gothic"/>
              </a:rPr>
              <a:t>要確認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80000" y="6480000"/>
            <a:ext cx="187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450"/>
              </a:lnSpc>
            </a:pPr>
            <a:r>
              <a:rPr sz="720" b="1">
                <a:solidFill>
                  <a:srgbClr val="1D2421"/>
                </a:solidFill>
                <a:latin typeface="Yu Gothic"/>
                <a:ea typeface="Yu Gothic"/>
              </a:rPr>
              <a:t>脇道東端から南西：脇道南側区画（重機・石材）</a:t>
            </a:r>
          </a:p>
          <a:p>
            <a:pPr algn="l">
              <a:lnSpc>
                <a:spcPct val="117450"/>
              </a:lnSpc>
            </a:pPr>
            <a:r>
              <a:rPr sz="720" b="0">
                <a:solidFill>
                  <a:srgbClr val="1D2421"/>
                </a:solidFill>
                <a:latin typeface="Yu Gothic"/>
                <a:ea typeface="Yu Gothic"/>
              </a:rPr>
              <a:t>⑨ 隣接地｜方向 約235°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64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付録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44000" y="306000"/>
            <a:ext cx="2844000" cy="216000"/>
          </a:xfrm>
          <a:prstGeom prst="rect">
            <a:avLst/>
          </a:prstGeom>
          <a:solidFill>
            <a:srgbClr val="B3261E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800" b="1">
                <a:solidFill>
                  <a:srgbClr val="FFFFFF"/>
                </a:solidFill>
                <a:latin typeface="Yu Gothic"/>
                <a:ea typeface="Yu Gothic"/>
              </a:rPr>
              <a:t>第2版：坂本さん所有地を取得対象から除外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000" y="522000"/>
            <a:ext cx="9684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確認できなかった事項の一覧（第2版）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4000" y="7200000"/>
            <a:ext cx="79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土地取得・開発検討資料（第2版 2026年10月）｜協議用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25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4000" y="1188000"/>
          <a:ext cx="9684000" cy="52668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232000"/>
                <a:gridCol w="4608000"/>
                <a:gridCol w="2844000"/>
              </a:tblGrid>
              <a:tr h="478800">
                <a:tc>
                  <a:txBody>
                    <a:bodyPr wrap="square"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事項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確認できなかった理由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確認方法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</a:tr>
              <a:tr h="4788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坂本さんの所有範囲の全体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引出線のみで地番が切れている筆、引出線が交錯する筆がある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登記事項証明書・公図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4788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「坂本 修」と坂本さんの同一性・共有者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図面に記載がない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登記・本人確認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4788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北段・2369-4〜7・脇道南側の所有者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引出線が交錯し判読不可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登記事項証明書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4788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除外後の取得面積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図面の記載面積は区画群の合計で、筆ごとの面積がない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登記・現況測量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4788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取得検討対象の接道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図面上は接していないと読めるが、里道等の扱いは不明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公図・道路台帳・県土木事務所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4788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大型車の旋回が成立するか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図面写真からの概略寸法のみ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現況測量・車両軌跡図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4788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土地境界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図面に縮尺・座標なし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土地家屋調査士・立会い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4788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写真のGPS・撮影日時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EXIFに記録なし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元データの再共有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4788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ハザード区域の正式範囲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参考表示のみ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兵庫県・宍粟市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4788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取得費用・造成費用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価格・見積の根拠なし（数値は作成していない）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交渉・見積後に収支シートで試算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64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付録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44000" y="306000"/>
            <a:ext cx="2844000" cy="216000"/>
          </a:xfrm>
          <a:prstGeom prst="rect">
            <a:avLst/>
          </a:prstGeom>
          <a:solidFill>
            <a:srgbClr val="B3261E"/>
          </a:solidFill>
        </p:spPr>
        <p:txBody>
          <a:bodyPr wrap="square" lIns="90000" rIns="90000" tIns="54000" bIns="5400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800" b="1">
                <a:solidFill>
                  <a:srgbClr val="FFFFFF"/>
                </a:solidFill>
                <a:latin typeface="Yu Gothic"/>
                <a:ea typeface="Yu Gothic"/>
              </a:rPr>
              <a:t>第2版：坂本さん所有地を取得対象から除外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000" y="522000"/>
            <a:ext cx="9684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第1版からの主な変更点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4000" y="7200000"/>
            <a:ext cx="79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土地取得・開発検討資料（第2版 2026年10月）｜協議用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26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4000" y="1188000"/>
          <a:ext cx="9684000" cy="5580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872000"/>
                <a:gridCol w="3888000"/>
                <a:gridCol w="3924000"/>
              </a:tblGrid>
              <a:tr h="558000">
                <a:tc>
                  <a:txBody>
                    <a:bodyPr wrap="square"/>
                    <a:lstStyle/>
                    <a:p>
                      <a:r>
                        <a:rPr sz="84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項目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第1版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第2版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取得対象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図面の色塗り区画全体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坂本さん所有地を除外。緑・赤・黄・グレーで区分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施設配置案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A案（一方通行）・B案（中段集約）・C案（段階整備）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新1案（北段集約）・新2案（北段＋中段連結）・新3案（中段最小）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出入口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県道×脇道の交差部付近（坂本さん所有地）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北段の県道沿い（新1・2案）／2369-4（新3案）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破砕機の位置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中段（住宅まで約50m）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北段東側（約100m・図上概略）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推奨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C案で開始しB案へ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北段の所有者確認を最優先 → 新1案で開始し新2案へ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写真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番号・位置・方向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維持。写っている土地の取得区分を追記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パノラマ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合成画像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維持。下帯で取得区分を表示（写真本体は無加工）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新規ページ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―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土地取得対象変更、取得対象図、影響分析、協議事項（事実／未確認）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旧資料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―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第1版_バックアップ フォルダに保存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チップヤード土地取得・開発検討資料</dc:title>
  <dc:subject/>
  <dc:creator>株式会社グリーン興産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